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68" r:id="rId15"/>
    <p:sldId id="270" r:id="rId16"/>
    <p:sldId id="271"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95" d="100"/>
          <a:sy n="95" d="100"/>
        </p:scale>
        <p:origin x="163"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434D6-2A5A-EC74-4B08-C9573631D23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4C31B0E-9509-DE9C-5458-15737F86EB8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9638D4D-7199-0245-B4FA-D035C6C1B843}"/>
              </a:ext>
            </a:extLst>
          </p:cNvPr>
          <p:cNvSpPr>
            <a:spLocks noGrp="1"/>
          </p:cNvSpPr>
          <p:nvPr>
            <p:ph type="dt" sz="half" idx="10"/>
          </p:nvPr>
        </p:nvSpPr>
        <p:spPr/>
        <p:txBody>
          <a:bodyPr/>
          <a:lstStyle/>
          <a:p>
            <a:fld id="{B61BEF0D-F0BB-DE4B-95CE-6DB70DBA9567}" type="datetimeFigureOut">
              <a:rPr lang="en-US" smtClean="0"/>
              <a:pPr/>
              <a:t>1/19/2026</a:t>
            </a:fld>
            <a:endParaRPr lang="en-US" dirty="0"/>
          </a:p>
        </p:txBody>
      </p:sp>
      <p:sp>
        <p:nvSpPr>
          <p:cNvPr id="5" name="Footer Placeholder 4">
            <a:extLst>
              <a:ext uri="{FF2B5EF4-FFF2-40B4-BE49-F238E27FC236}">
                <a16:creationId xmlns:a16="http://schemas.microsoft.com/office/drawing/2014/main" id="{D1DC73B7-9174-3940-39E7-CE4676EC54F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0779B9A-7FA2-F503-51EB-B14960310E35}"/>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491221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EB3D6-4E6F-3EB2-640B-24752268715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C8201DF-2AAB-AFB2-04FA-15F699C28FA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DBFEF83-0964-D082-BE5C-56B8F81576BD}"/>
              </a:ext>
            </a:extLst>
          </p:cNvPr>
          <p:cNvSpPr>
            <a:spLocks noGrp="1"/>
          </p:cNvSpPr>
          <p:nvPr>
            <p:ph type="dt" sz="half" idx="10"/>
          </p:nvPr>
        </p:nvSpPr>
        <p:spPr/>
        <p:txBody>
          <a:bodyPr/>
          <a:lstStyle/>
          <a:p>
            <a:fld id="{B61BEF0D-F0BB-DE4B-95CE-6DB70DBA9567}" type="datetimeFigureOut">
              <a:rPr lang="en-US" smtClean="0"/>
              <a:pPr/>
              <a:t>1/19/2026</a:t>
            </a:fld>
            <a:endParaRPr lang="en-US" dirty="0"/>
          </a:p>
        </p:txBody>
      </p:sp>
      <p:sp>
        <p:nvSpPr>
          <p:cNvPr id="5" name="Footer Placeholder 4">
            <a:extLst>
              <a:ext uri="{FF2B5EF4-FFF2-40B4-BE49-F238E27FC236}">
                <a16:creationId xmlns:a16="http://schemas.microsoft.com/office/drawing/2014/main" id="{D69386E8-11AC-AB07-C766-B9530FD6375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4B6547F-F88F-4B87-F0E5-29741F49DA18}"/>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867411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3D4FF-0FE4-F817-287A-2F43442085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6A91360-1BFE-DEB4-A9DE-3D01CA13938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74CF90-2DC8-65EE-6481-8FC2AB20E79C}"/>
              </a:ext>
            </a:extLst>
          </p:cNvPr>
          <p:cNvSpPr>
            <a:spLocks noGrp="1"/>
          </p:cNvSpPr>
          <p:nvPr>
            <p:ph type="dt" sz="half" idx="10"/>
          </p:nvPr>
        </p:nvSpPr>
        <p:spPr/>
        <p:txBody>
          <a:bodyPr/>
          <a:lstStyle/>
          <a:p>
            <a:fld id="{B61BEF0D-F0BB-DE4B-95CE-6DB70DBA9567}" type="datetimeFigureOut">
              <a:rPr lang="en-US" smtClean="0"/>
              <a:pPr/>
              <a:t>1/19/2026</a:t>
            </a:fld>
            <a:endParaRPr lang="en-US" dirty="0"/>
          </a:p>
        </p:txBody>
      </p:sp>
      <p:sp>
        <p:nvSpPr>
          <p:cNvPr id="5" name="Footer Placeholder 4">
            <a:extLst>
              <a:ext uri="{FF2B5EF4-FFF2-40B4-BE49-F238E27FC236}">
                <a16:creationId xmlns:a16="http://schemas.microsoft.com/office/drawing/2014/main" id="{98590B6A-28A6-7EB6-4351-CAABA6574F9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FD8D9FA-8EA6-A0B4-0BDC-B23B26B83C45}"/>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083701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F648B-89EF-44E7-B17D-9B00266CAA7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53BC652-C84E-6259-60DF-910AFB4EB1A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E4925B8-EE12-EB66-79B9-AFB2E5109F7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AF023DE-F1CD-8A00-0123-AF4619B4129D}"/>
              </a:ext>
            </a:extLst>
          </p:cNvPr>
          <p:cNvSpPr>
            <a:spLocks noGrp="1"/>
          </p:cNvSpPr>
          <p:nvPr>
            <p:ph type="dt" sz="half" idx="10"/>
          </p:nvPr>
        </p:nvSpPr>
        <p:spPr/>
        <p:txBody>
          <a:bodyPr/>
          <a:lstStyle/>
          <a:p>
            <a:fld id="{B61BEF0D-F0BB-DE4B-95CE-6DB70DBA9567}" type="datetimeFigureOut">
              <a:rPr lang="en-US" smtClean="0"/>
              <a:pPr/>
              <a:t>1/19/2026</a:t>
            </a:fld>
            <a:endParaRPr lang="en-US" dirty="0"/>
          </a:p>
        </p:txBody>
      </p:sp>
      <p:sp>
        <p:nvSpPr>
          <p:cNvPr id="6" name="Footer Placeholder 5">
            <a:extLst>
              <a:ext uri="{FF2B5EF4-FFF2-40B4-BE49-F238E27FC236}">
                <a16:creationId xmlns:a16="http://schemas.microsoft.com/office/drawing/2014/main" id="{7ACE2521-1E42-C998-A123-5A67FAF37F9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B58490C-3108-11D1-AA05-9C6FF36B5F3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086920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571C8-4A26-C0A9-184E-C806A359E74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D70D9F5-C085-B3F4-569F-5BA98F15A7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6EA8950-05E7-9AC6-0486-CF20A087190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4A57385-E23C-243B-083D-753DF1C0076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349E060-C3A1-8568-87D6-A2E6CD8ACFE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88DA99F-79F3-793B-1671-EE0CC612FF59}"/>
              </a:ext>
            </a:extLst>
          </p:cNvPr>
          <p:cNvSpPr>
            <a:spLocks noGrp="1"/>
          </p:cNvSpPr>
          <p:nvPr>
            <p:ph type="dt" sz="half" idx="10"/>
          </p:nvPr>
        </p:nvSpPr>
        <p:spPr/>
        <p:txBody>
          <a:bodyPr/>
          <a:lstStyle/>
          <a:p>
            <a:fld id="{B61BEF0D-F0BB-DE4B-95CE-6DB70DBA9567}" type="datetimeFigureOut">
              <a:rPr lang="en-US" smtClean="0"/>
              <a:pPr/>
              <a:t>1/19/2026</a:t>
            </a:fld>
            <a:endParaRPr lang="en-US" dirty="0"/>
          </a:p>
        </p:txBody>
      </p:sp>
      <p:sp>
        <p:nvSpPr>
          <p:cNvPr id="8" name="Footer Placeholder 7">
            <a:extLst>
              <a:ext uri="{FF2B5EF4-FFF2-40B4-BE49-F238E27FC236}">
                <a16:creationId xmlns:a16="http://schemas.microsoft.com/office/drawing/2014/main" id="{AA8F5815-E4B5-83D9-BAF5-E52D21EBDCC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2A4F9439-A364-AF59-77B9-48142A6607A2}"/>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446907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09CD0-C653-8141-53FE-8D77662D4A6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3EC3B1E-C1D4-C258-F906-EC0D945AFB82}"/>
              </a:ext>
            </a:extLst>
          </p:cNvPr>
          <p:cNvSpPr>
            <a:spLocks noGrp="1"/>
          </p:cNvSpPr>
          <p:nvPr>
            <p:ph type="dt" sz="half" idx="10"/>
          </p:nvPr>
        </p:nvSpPr>
        <p:spPr/>
        <p:txBody>
          <a:bodyPr/>
          <a:lstStyle/>
          <a:p>
            <a:fld id="{B61BEF0D-F0BB-DE4B-95CE-6DB70DBA9567}" type="datetimeFigureOut">
              <a:rPr lang="en-US" smtClean="0"/>
              <a:pPr/>
              <a:t>1/19/2026</a:t>
            </a:fld>
            <a:endParaRPr lang="en-US" dirty="0"/>
          </a:p>
        </p:txBody>
      </p:sp>
      <p:sp>
        <p:nvSpPr>
          <p:cNvPr id="4" name="Footer Placeholder 3">
            <a:extLst>
              <a:ext uri="{FF2B5EF4-FFF2-40B4-BE49-F238E27FC236}">
                <a16:creationId xmlns:a16="http://schemas.microsoft.com/office/drawing/2014/main" id="{E2C2741E-A157-F3CF-C2C9-8557F305BC7C}"/>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82B6495B-CA30-34B2-4685-FA2FC68AB062}"/>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804574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0FA23D-7339-B232-F33D-29F8E59802A7}"/>
              </a:ext>
            </a:extLst>
          </p:cNvPr>
          <p:cNvSpPr>
            <a:spLocks noGrp="1"/>
          </p:cNvSpPr>
          <p:nvPr>
            <p:ph type="dt" sz="half" idx="10"/>
          </p:nvPr>
        </p:nvSpPr>
        <p:spPr/>
        <p:txBody>
          <a:bodyPr/>
          <a:lstStyle/>
          <a:p>
            <a:fld id="{B61BEF0D-F0BB-DE4B-95CE-6DB70DBA9567}" type="datetimeFigureOut">
              <a:rPr lang="en-US" smtClean="0"/>
              <a:pPr/>
              <a:t>1/19/2026</a:t>
            </a:fld>
            <a:endParaRPr lang="en-US" dirty="0"/>
          </a:p>
        </p:txBody>
      </p:sp>
      <p:sp>
        <p:nvSpPr>
          <p:cNvPr id="3" name="Footer Placeholder 2">
            <a:extLst>
              <a:ext uri="{FF2B5EF4-FFF2-40B4-BE49-F238E27FC236}">
                <a16:creationId xmlns:a16="http://schemas.microsoft.com/office/drawing/2014/main" id="{C892AAC5-1DD6-A8C2-AF05-2904892B3588}"/>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2E36D756-481D-0691-DADF-B178E2AD7811}"/>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73184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2ABD3-AC88-1F1F-CA0A-037D7B3E96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071081A-D4E9-BA22-A79B-5A34609FC6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9F50E5A-141E-57F5-23CA-588837A2C5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0558AE-F952-A692-5211-291ACCE60F0D}"/>
              </a:ext>
            </a:extLst>
          </p:cNvPr>
          <p:cNvSpPr>
            <a:spLocks noGrp="1"/>
          </p:cNvSpPr>
          <p:nvPr>
            <p:ph type="dt" sz="half" idx="10"/>
          </p:nvPr>
        </p:nvSpPr>
        <p:spPr/>
        <p:txBody>
          <a:bodyPr/>
          <a:lstStyle/>
          <a:p>
            <a:fld id="{B61BEF0D-F0BB-DE4B-95CE-6DB70DBA9567}" type="datetimeFigureOut">
              <a:rPr lang="en-US" smtClean="0"/>
              <a:pPr/>
              <a:t>1/19/2026</a:t>
            </a:fld>
            <a:endParaRPr lang="en-US" dirty="0"/>
          </a:p>
        </p:txBody>
      </p:sp>
      <p:sp>
        <p:nvSpPr>
          <p:cNvPr id="6" name="Footer Placeholder 5">
            <a:extLst>
              <a:ext uri="{FF2B5EF4-FFF2-40B4-BE49-F238E27FC236}">
                <a16:creationId xmlns:a16="http://schemas.microsoft.com/office/drawing/2014/main" id="{4156A4BE-C005-8971-3AF4-18E0E3A24EE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0DED3D3-1E8B-5743-7580-7C97B71DD7C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63415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9BAF0-BE21-6282-B018-EEF0D6AE65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AFD6509-0840-485D-4223-4ABF4514956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45F4543-30FD-726B-B751-A23C874DB8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7D2964-8A01-9CD9-CA81-9643A2C5675F}"/>
              </a:ext>
            </a:extLst>
          </p:cNvPr>
          <p:cNvSpPr>
            <a:spLocks noGrp="1"/>
          </p:cNvSpPr>
          <p:nvPr>
            <p:ph type="dt" sz="half" idx="10"/>
          </p:nvPr>
        </p:nvSpPr>
        <p:spPr/>
        <p:txBody>
          <a:bodyPr/>
          <a:lstStyle/>
          <a:p>
            <a:fld id="{B61BEF0D-F0BB-DE4B-95CE-6DB70DBA9567}" type="datetimeFigureOut">
              <a:rPr lang="en-US" smtClean="0"/>
              <a:pPr/>
              <a:t>1/19/2026</a:t>
            </a:fld>
            <a:endParaRPr lang="en-US" dirty="0"/>
          </a:p>
        </p:txBody>
      </p:sp>
      <p:sp>
        <p:nvSpPr>
          <p:cNvPr id="6" name="Footer Placeholder 5">
            <a:extLst>
              <a:ext uri="{FF2B5EF4-FFF2-40B4-BE49-F238E27FC236}">
                <a16:creationId xmlns:a16="http://schemas.microsoft.com/office/drawing/2014/main" id="{2C12101E-D33C-2FB4-C43C-7376DB892CA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5ABB80D-AFD3-1A1C-EB30-D89AE257847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078026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D4121-6373-5FEA-7727-561B65B948C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BCB1E7B-1982-715B-3B9F-C8C9B002314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5BF8C9-2D98-16F4-8BD1-BCEA38676522}"/>
              </a:ext>
            </a:extLst>
          </p:cNvPr>
          <p:cNvSpPr>
            <a:spLocks noGrp="1"/>
          </p:cNvSpPr>
          <p:nvPr>
            <p:ph type="dt" sz="half" idx="10"/>
          </p:nvPr>
        </p:nvSpPr>
        <p:spPr/>
        <p:txBody>
          <a:bodyPr/>
          <a:lstStyle/>
          <a:p>
            <a:fld id="{B61BEF0D-F0BB-DE4B-95CE-6DB70DBA9567}" type="datetimeFigureOut">
              <a:rPr lang="en-US" smtClean="0"/>
              <a:pPr/>
              <a:t>1/19/2026</a:t>
            </a:fld>
            <a:endParaRPr lang="en-US" dirty="0"/>
          </a:p>
        </p:txBody>
      </p:sp>
      <p:sp>
        <p:nvSpPr>
          <p:cNvPr id="5" name="Footer Placeholder 4">
            <a:extLst>
              <a:ext uri="{FF2B5EF4-FFF2-40B4-BE49-F238E27FC236}">
                <a16:creationId xmlns:a16="http://schemas.microsoft.com/office/drawing/2014/main" id="{379421A2-0569-A9ED-703F-E28EE48EB7E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DE97C3F-51F1-C05E-CA05-82C56AB8E781}"/>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451073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AC59770-8BCA-E5C6-33C1-9A0E0D340FC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E15C043-0CEC-3425-AF3E-3D5967A1488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B00D9F6-AECC-5F09-5335-7F2FF0B7E8D7}"/>
              </a:ext>
            </a:extLst>
          </p:cNvPr>
          <p:cNvSpPr>
            <a:spLocks noGrp="1"/>
          </p:cNvSpPr>
          <p:nvPr>
            <p:ph type="dt" sz="half" idx="10"/>
          </p:nvPr>
        </p:nvSpPr>
        <p:spPr/>
        <p:txBody>
          <a:bodyPr/>
          <a:lstStyle/>
          <a:p>
            <a:fld id="{B61BEF0D-F0BB-DE4B-95CE-6DB70DBA9567}" type="datetimeFigureOut">
              <a:rPr lang="en-US" smtClean="0"/>
              <a:pPr/>
              <a:t>1/19/2026</a:t>
            </a:fld>
            <a:endParaRPr lang="en-US" dirty="0"/>
          </a:p>
        </p:txBody>
      </p:sp>
      <p:sp>
        <p:nvSpPr>
          <p:cNvPr id="5" name="Footer Placeholder 4">
            <a:extLst>
              <a:ext uri="{FF2B5EF4-FFF2-40B4-BE49-F238E27FC236}">
                <a16:creationId xmlns:a16="http://schemas.microsoft.com/office/drawing/2014/main" id="{5BEACC6F-A277-C15A-7D67-42ED1B6B1C3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59246B6-5A5D-ED6C-F62E-05EC3729C133}"/>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514632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D04AF0-C341-8571-BB69-98AE162133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3599D41-5019-0A6F-772B-F23D174AF7A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1684FFD-0E45-B029-838B-BFDA351B7E3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1/19/2026</a:t>
            </a:fld>
            <a:endParaRPr lang="en-US" dirty="0"/>
          </a:p>
        </p:txBody>
      </p:sp>
      <p:sp>
        <p:nvSpPr>
          <p:cNvPr id="5" name="Footer Placeholder 4">
            <a:extLst>
              <a:ext uri="{FF2B5EF4-FFF2-40B4-BE49-F238E27FC236}">
                <a16:creationId xmlns:a16="http://schemas.microsoft.com/office/drawing/2014/main" id="{B02B0B22-3F3E-3B30-D3E6-BA4AF2876F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004600E9-1D90-AAD9-C595-4600A1034E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04984607"/>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 Id="rId5" Type="http://schemas.openxmlformats.org/officeDocument/2006/relationships/image" Target="../media/image5.jpeg"/><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7.xml"/><Relationship Id="rId5" Type="http://schemas.openxmlformats.org/officeDocument/2006/relationships/image" Target="../media/image9.jpe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8" descr="Paying Guest (PG) in Bangalore for Boys &amp; Girls: Myroomie">
            <a:extLst>
              <a:ext uri="{FF2B5EF4-FFF2-40B4-BE49-F238E27FC236}">
                <a16:creationId xmlns:a16="http://schemas.microsoft.com/office/drawing/2014/main" id="{8F55151D-51E1-654B-7C06-B606E66D9B2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2378" t="9148" r="32449" b="11018"/>
          <a:stretch/>
        </p:blipFill>
        <p:spPr bwMode="auto">
          <a:xfrm>
            <a:off x="1053790" y="269493"/>
            <a:ext cx="1322276" cy="1338943"/>
          </a:xfrm>
          <a:prstGeom prst="rect">
            <a:avLst/>
          </a:prstGeom>
          <a:noFill/>
          <a:extLst>
            <a:ext uri="{909E8E84-426E-40DD-AFC4-6F175D3DCCD1}">
              <a14:hiddenFill xmlns:a14="http://schemas.microsoft.com/office/drawing/2010/main">
                <a:solidFill>
                  <a:srgbClr val="FFFFFF"/>
                </a:solidFill>
              </a14:hiddenFill>
            </a:ext>
          </a:extLst>
        </p:spPr>
      </p:pic>
      <p:sp>
        <p:nvSpPr>
          <p:cNvPr id="3" name="Title 5">
            <a:extLst>
              <a:ext uri="{FF2B5EF4-FFF2-40B4-BE49-F238E27FC236}">
                <a16:creationId xmlns:a16="http://schemas.microsoft.com/office/drawing/2014/main" id="{56F12F5C-BFF1-B7EE-A254-32274BCF9EC4}"/>
              </a:ext>
            </a:extLst>
          </p:cNvPr>
          <p:cNvSpPr txBox="1">
            <a:spLocks/>
          </p:cNvSpPr>
          <p:nvPr/>
        </p:nvSpPr>
        <p:spPr>
          <a:xfrm>
            <a:off x="3007894" y="305398"/>
            <a:ext cx="8361913" cy="405179"/>
          </a:xfrm>
          <a:prstGeom prst="rect">
            <a:avLst/>
          </a:prstGeom>
        </p:spPr>
        <p:txBody>
          <a:bodyPr>
            <a:norm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800" dirty="0">
                <a:ln>
                  <a:solidFill>
                    <a:schemeClr val="tx1"/>
                  </a:solidFill>
                </a:ln>
              </a:rPr>
              <a:t>DAYANANDA  SAGAR  ACADEMY OF TECHNOLOGY  AND MANAGEMENT</a:t>
            </a:r>
          </a:p>
        </p:txBody>
      </p:sp>
      <p:sp>
        <p:nvSpPr>
          <p:cNvPr id="4" name="Rectangle 3">
            <a:extLst>
              <a:ext uri="{FF2B5EF4-FFF2-40B4-BE49-F238E27FC236}">
                <a16:creationId xmlns:a16="http://schemas.microsoft.com/office/drawing/2014/main" id="{BD5FE715-60DC-90A4-24DC-F8D8378A9A8F}"/>
              </a:ext>
            </a:extLst>
          </p:cNvPr>
          <p:cNvSpPr/>
          <p:nvPr/>
        </p:nvSpPr>
        <p:spPr>
          <a:xfrm>
            <a:off x="3242944" y="697076"/>
            <a:ext cx="6656612" cy="369332"/>
          </a:xfrm>
          <a:prstGeom prst="rect">
            <a:avLst/>
          </a:prstGeom>
        </p:spPr>
        <p:txBody>
          <a:bodyPr wrap="square">
            <a:spAutoFit/>
          </a:bodyPr>
          <a:lstStyle/>
          <a:p>
            <a:r>
              <a:rPr lang="en-US" dirty="0">
                <a:ln>
                  <a:solidFill>
                    <a:schemeClr val="tx1"/>
                  </a:solidFill>
                </a:ln>
              </a:rPr>
              <a:t>DEPARTMENT OF ELECTRICAL AND ELECTRONICS ENGINEERING</a:t>
            </a:r>
          </a:p>
        </p:txBody>
      </p:sp>
      <p:sp>
        <p:nvSpPr>
          <p:cNvPr id="5" name="Rectangle 4">
            <a:extLst>
              <a:ext uri="{FF2B5EF4-FFF2-40B4-BE49-F238E27FC236}">
                <a16:creationId xmlns:a16="http://schemas.microsoft.com/office/drawing/2014/main" id="{BA9D73E0-2B6F-73FA-8043-9D6514B0FB68}"/>
              </a:ext>
            </a:extLst>
          </p:cNvPr>
          <p:cNvSpPr/>
          <p:nvPr/>
        </p:nvSpPr>
        <p:spPr>
          <a:xfrm>
            <a:off x="4610676" y="2463544"/>
            <a:ext cx="2798202" cy="369332"/>
          </a:xfrm>
          <a:prstGeom prst="rect">
            <a:avLst/>
          </a:prstGeom>
        </p:spPr>
        <p:txBody>
          <a:bodyPr wrap="none">
            <a:spAutoFit/>
          </a:bodyPr>
          <a:lstStyle/>
          <a:p>
            <a:r>
              <a:rPr lang="en-US" dirty="0">
                <a:ln>
                  <a:solidFill>
                    <a:schemeClr val="tx1"/>
                  </a:solidFill>
                </a:ln>
              </a:rPr>
              <a:t>ACADEMIC YEAR 2022-2023</a:t>
            </a:r>
          </a:p>
        </p:txBody>
      </p:sp>
      <p:sp>
        <p:nvSpPr>
          <p:cNvPr id="6" name="TextBox 5">
            <a:extLst>
              <a:ext uri="{FF2B5EF4-FFF2-40B4-BE49-F238E27FC236}">
                <a16:creationId xmlns:a16="http://schemas.microsoft.com/office/drawing/2014/main" id="{4D78113B-F14B-0EAC-DDF6-597DB0DC406C}"/>
              </a:ext>
            </a:extLst>
          </p:cNvPr>
          <p:cNvSpPr txBox="1"/>
          <p:nvPr/>
        </p:nvSpPr>
        <p:spPr>
          <a:xfrm>
            <a:off x="4927656" y="1975345"/>
            <a:ext cx="2336688" cy="400110"/>
          </a:xfrm>
          <a:prstGeom prst="rect">
            <a:avLst/>
          </a:prstGeom>
          <a:noFill/>
        </p:spPr>
        <p:txBody>
          <a:bodyPr wrap="square" rtlCol="0">
            <a:spAutoFit/>
          </a:bodyPr>
          <a:lstStyle/>
          <a:p>
            <a:r>
              <a:rPr lang="en-IN" sz="2000" b="1" dirty="0">
                <a:latin typeface="+mj-lt"/>
              </a:rPr>
              <a:t>“MINI PROJECT”   </a:t>
            </a:r>
            <a:endParaRPr lang="en-IN" sz="2000" dirty="0"/>
          </a:p>
        </p:txBody>
      </p:sp>
      <p:sp>
        <p:nvSpPr>
          <p:cNvPr id="7" name="Rectangle 6">
            <a:extLst>
              <a:ext uri="{FF2B5EF4-FFF2-40B4-BE49-F238E27FC236}">
                <a16:creationId xmlns:a16="http://schemas.microsoft.com/office/drawing/2014/main" id="{64C48852-4548-1E35-428D-C22DAC10B477}"/>
              </a:ext>
            </a:extLst>
          </p:cNvPr>
          <p:cNvSpPr/>
          <p:nvPr/>
        </p:nvSpPr>
        <p:spPr>
          <a:xfrm>
            <a:off x="3481137" y="3284392"/>
            <a:ext cx="5430252" cy="461665"/>
          </a:xfrm>
          <a:prstGeom prst="rect">
            <a:avLst/>
          </a:prstGeom>
        </p:spPr>
        <p:txBody>
          <a:bodyPr wrap="square">
            <a:spAutoFit/>
          </a:bodyPr>
          <a:lstStyle/>
          <a:p>
            <a:r>
              <a:rPr lang="en-US" sz="2400" b="1" dirty="0">
                <a:ln>
                  <a:solidFill>
                    <a:schemeClr val="tx1"/>
                  </a:solidFill>
                </a:ln>
                <a:latin typeface="+mj-lt"/>
              </a:rPr>
              <a:t>“SHUI : SMART HOVERBOARD USING  IOT”</a:t>
            </a:r>
          </a:p>
        </p:txBody>
      </p:sp>
      <p:sp>
        <p:nvSpPr>
          <p:cNvPr id="8" name="Rectangle 7">
            <a:extLst>
              <a:ext uri="{FF2B5EF4-FFF2-40B4-BE49-F238E27FC236}">
                <a16:creationId xmlns:a16="http://schemas.microsoft.com/office/drawing/2014/main" id="{777EF5D8-5964-1F8F-2B51-B9DD75CB954A}"/>
              </a:ext>
            </a:extLst>
          </p:cNvPr>
          <p:cNvSpPr/>
          <p:nvPr/>
        </p:nvSpPr>
        <p:spPr>
          <a:xfrm>
            <a:off x="605017" y="4599345"/>
            <a:ext cx="3947962" cy="1477328"/>
          </a:xfrm>
          <a:prstGeom prst="rect">
            <a:avLst/>
          </a:prstGeom>
        </p:spPr>
        <p:txBody>
          <a:bodyPr wrap="square">
            <a:spAutoFit/>
          </a:bodyPr>
          <a:lstStyle/>
          <a:p>
            <a:r>
              <a:rPr lang="en-US" b="1" dirty="0">
                <a:ln>
                  <a:solidFill>
                    <a:schemeClr val="tx1"/>
                  </a:solidFill>
                </a:ln>
                <a:latin typeface="+mj-lt"/>
              </a:rPr>
              <a:t>UNDER THE GUIDANCE OF:</a:t>
            </a:r>
          </a:p>
          <a:p>
            <a:br>
              <a:rPr lang="en-US" dirty="0">
                <a:ln>
                  <a:solidFill>
                    <a:schemeClr val="tx1"/>
                  </a:solidFill>
                </a:ln>
              </a:rPr>
            </a:br>
            <a:r>
              <a:rPr lang="en-US" dirty="0">
                <a:ln>
                  <a:solidFill>
                    <a:schemeClr val="tx1"/>
                  </a:solidFill>
                </a:ln>
              </a:rPr>
              <a:t>PROF. RENUKA PRASAD G</a:t>
            </a:r>
            <a:br>
              <a:rPr lang="en-US" dirty="0">
                <a:ln>
                  <a:solidFill>
                    <a:schemeClr val="tx1"/>
                  </a:solidFill>
                </a:ln>
              </a:rPr>
            </a:br>
            <a:r>
              <a:rPr lang="en-US" dirty="0">
                <a:ln>
                  <a:solidFill>
                    <a:schemeClr val="tx1"/>
                  </a:solidFill>
                </a:ln>
              </a:rPr>
              <a:t>ASSISTANT PROFESSOR,DEPT. OF EEE,</a:t>
            </a:r>
            <a:br>
              <a:rPr lang="en-US" dirty="0">
                <a:ln>
                  <a:solidFill>
                    <a:schemeClr val="tx1"/>
                  </a:solidFill>
                </a:ln>
              </a:rPr>
            </a:br>
            <a:r>
              <a:rPr lang="en-US" dirty="0">
                <a:ln>
                  <a:solidFill>
                    <a:schemeClr val="tx1"/>
                  </a:solidFill>
                </a:ln>
              </a:rPr>
              <a:t>DSATM, BENGALURU.</a:t>
            </a:r>
          </a:p>
        </p:txBody>
      </p:sp>
      <p:sp>
        <p:nvSpPr>
          <p:cNvPr id="9" name="Rectangle 8">
            <a:extLst>
              <a:ext uri="{FF2B5EF4-FFF2-40B4-BE49-F238E27FC236}">
                <a16:creationId xmlns:a16="http://schemas.microsoft.com/office/drawing/2014/main" id="{875D8327-B50F-CC43-F7E9-E6F6C9CDC83F}"/>
              </a:ext>
            </a:extLst>
          </p:cNvPr>
          <p:cNvSpPr/>
          <p:nvPr/>
        </p:nvSpPr>
        <p:spPr>
          <a:xfrm>
            <a:off x="7890655" y="4460846"/>
            <a:ext cx="3816626" cy="1754326"/>
          </a:xfrm>
          <a:prstGeom prst="rect">
            <a:avLst/>
          </a:prstGeom>
        </p:spPr>
        <p:txBody>
          <a:bodyPr wrap="square">
            <a:spAutoFit/>
          </a:bodyPr>
          <a:lstStyle/>
          <a:p>
            <a:r>
              <a:rPr lang="en-US" b="1" dirty="0">
                <a:ln>
                  <a:solidFill>
                    <a:schemeClr val="tx1"/>
                  </a:solidFill>
                </a:ln>
                <a:latin typeface="+mj-lt"/>
              </a:rPr>
              <a:t>SUBMITTED BY:</a:t>
            </a:r>
          </a:p>
          <a:p>
            <a:endParaRPr lang="en-US" dirty="0">
              <a:ln>
                <a:solidFill>
                  <a:schemeClr val="tx1"/>
                </a:solidFill>
              </a:ln>
            </a:endParaRPr>
          </a:p>
          <a:p>
            <a:pPr marL="285750" indent="-285750">
              <a:buFont typeface="Wingdings" panose="05000000000000000000" pitchFamily="2" charset="2"/>
              <a:buChar char="q"/>
            </a:pPr>
            <a:r>
              <a:rPr lang="en-US" dirty="0">
                <a:ln>
                  <a:solidFill>
                    <a:schemeClr val="tx1"/>
                  </a:solidFill>
                </a:ln>
              </a:rPr>
              <a:t>ANANYA SHEKAR(1DT20EE003)</a:t>
            </a:r>
          </a:p>
          <a:p>
            <a:pPr marL="285750" indent="-285750">
              <a:buFont typeface="Wingdings" panose="05000000000000000000" pitchFamily="2" charset="2"/>
              <a:buChar char="q"/>
            </a:pPr>
            <a:r>
              <a:rPr lang="en-US" dirty="0">
                <a:ln>
                  <a:solidFill>
                    <a:schemeClr val="tx1"/>
                  </a:solidFill>
                </a:ln>
              </a:rPr>
              <a:t>ANNAPURNA(1DT20EE004)</a:t>
            </a:r>
          </a:p>
          <a:p>
            <a:pPr marL="285750" indent="-285750">
              <a:buFont typeface="Wingdings" panose="05000000000000000000" pitchFamily="2" charset="2"/>
              <a:buChar char="q"/>
            </a:pPr>
            <a:r>
              <a:rPr lang="en-US" dirty="0">
                <a:ln>
                  <a:solidFill>
                    <a:schemeClr val="tx1"/>
                  </a:solidFill>
                </a:ln>
              </a:rPr>
              <a:t>GOUTAMI V NAIK(1DT20EE012)</a:t>
            </a:r>
          </a:p>
          <a:p>
            <a:pPr marL="285750" indent="-285750">
              <a:buFont typeface="Wingdings" panose="05000000000000000000" pitchFamily="2" charset="2"/>
              <a:buChar char="q"/>
            </a:pPr>
            <a:r>
              <a:rPr lang="en-US" dirty="0">
                <a:ln>
                  <a:solidFill>
                    <a:schemeClr val="tx1"/>
                  </a:solidFill>
                </a:ln>
              </a:rPr>
              <a:t>VAISHNAVI H M(1DT20EE031)</a:t>
            </a:r>
            <a:endParaRPr lang="en-US" dirty="0"/>
          </a:p>
        </p:txBody>
      </p:sp>
      <p:sp>
        <p:nvSpPr>
          <p:cNvPr id="10" name="TextBox 9">
            <a:extLst>
              <a:ext uri="{FF2B5EF4-FFF2-40B4-BE49-F238E27FC236}">
                <a16:creationId xmlns:a16="http://schemas.microsoft.com/office/drawing/2014/main" id="{921178CC-EEFE-7B82-4822-C921ADE82F77}"/>
              </a:ext>
            </a:extLst>
          </p:cNvPr>
          <p:cNvSpPr txBox="1"/>
          <p:nvPr/>
        </p:nvSpPr>
        <p:spPr>
          <a:xfrm>
            <a:off x="5157538" y="2876921"/>
            <a:ext cx="1572125" cy="369332"/>
          </a:xfrm>
          <a:prstGeom prst="rect">
            <a:avLst/>
          </a:prstGeom>
          <a:noFill/>
        </p:spPr>
        <p:txBody>
          <a:bodyPr wrap="square" rtlCol="0">
            <a:spAutoFit/>
          </a:bodyPr>
          <a:lstStyle/>
          <a:p>
            <a:r>
              <a:rPr lang="en-IN" dirty="0"/>
              <a:t>6</a:t>
            </a:r>
            <a:r>
              <a:rPr lang="en-IN" baseline="30000" dirty="0"/>
              <a:t>TH</a:t>
            </a:r>
            <a:r>
              <a:rPr lang="en-IN" dirty="0"/>
              <a:t> SEMESTER</a:t>
            </a:r>
          </a:p>
        </p:txBody>
      </p:sp>
    </p:spTree>
    <p:extLst>
      <p:ext uri="{BB962C8B-B14F-4D97-AF65-F5344CB8AC3E}">
        <p14:creationId xmlns:p14="http://schemas.microsoft.com/office/powerpoint/2010/main" val="41494673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1082EF7A-5185-7357-190A-C146F79405BF}"/>
              </a:ext>
            </a:extLst>
          </p:cNvPr>
          <p:cNvSpPr txBox="1">
            <a:spLocks/>
          </p:cNvSpPr>
          <p:nvPr/>
        </p:nvSpPr>
        <p:spPr>
          <a:xfrm>
            <a:off x="4201564" y="494501"/>
            <a:ext cx="2335595" cy="724700"/>
          </a:xfrm>
          <a:prstGeom prst="rect">
            <a:avLst/>
          </a:prstGeom>
        </p:spPr>
        <p:txBody>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CONTENTS</a:t>
            </a:r>
          </a:p>
        </p:txBody>
      </p:sp>
      <p:graphicFrame>
        <p:nvGraphicFramePr>
          <p:cNvPr id="7" name="Table 7">
            <a:extLst>
              <a:ext uri="{FF2B5EF4-FFF2-40B4-BE49-F238E27FC236}">
                <a16:creationId xmlns:a16="http://schemas.microsoft.com/office/drawing/2014/main" id="{42331724-867C-51ED-0519-A4BF0C25B953}"/>
              </a:ext>
            </a:extLst>
          </p:cNvPr>
          <p:cNvGraphicFramePr>
            <a:graphicFrameLocks noGrp="1"/>
          </p:cNvGraphicFramePr>
          <p:nvPr>
            <p:extLst>
              <p:ext uri="{D42A27DB-BD31-4B8C-83A1-F6EECF244321}">
                <p14:modId xmlns:p14="http://schemas.microsoft.com/office/powerpoint/2010/main" val="700684988"/>
              </p:ext>
            </p:extLst>
          </p:nvPr>
        </p:nvGraphicFramePr>
        <p:xfrm>
          <a:off x="2661521" y="1275349"/>
          <a:ext cx="6402268" cy="5274648"/>
        </p:xfrm>
        <a:graphic>
          <a:graphicData uri="http://schemas.openxmlformats.org/drawingml/2006/table">
            <a:tbl>
              <a:tblPr firstRow="1" bandRow="1">
                <a:tableStyleId>{616DA210-FB5B-4158-B5E0-FEB733F419BA}</a:tableStyleId>
              </a:tblPr>
              <a:tblGrid>
                <a:gridCol w="1013239">
                  <a:extLst>
                    <a:ext uri="{9D8B030D-6E8A-4147-A177-3AD203B41FA5}">
                      <a16:colId xmlns:a16="http://schemas.microsoft.com/office/drawing/2014/main" val="584609403"/>
                    </a:ext>
                  </a:extLst>
                </a:gridCol>
                <a:gridCol w="3254939">
                  <a:extLst>
                    <a:ext uri="{9D8B030D-6E8A-4147-A177-3AD203B41FA5}">
                      <a16:colId xmlns:a16="http://schemas.microsoft.com/office/drawing/2014/main" val="3324474651"/>
                    </a:ext>
                  </a:extLst>
                </a:gridCol>
                <a:gridCol w="2134090">
                  <a:extLst>
                    <a:ext uri="{9D8B030D-6E8A-4147-A177-3AD203B41FA5}">
                      <a16:colId xmlns:a16="http://schemas.microsoft.com/office/drawing/2014/main" val="2708797097"/>
                    </a:ext>
                  </a:extLst>
                </a:gridCol>
              </a:tblGrid>
              <a:tr h="514952">
                <a:tc>
                  <a:txBody>
                    <a:bodyPr/>
                    <a:lstStyle/>
                    <a:p>
                      <a:pPr algn="just"/>
                      <a:r>
                        <a:rPr lang="en-IN" dirty="0"/>
                        <a:t>SL NO.</a:t>
                      </a:r>
                    </a:p>
                  </a:txBody>
                  <a:tcPr/>
                </a:tc>
                <a:tc>
                  <a:txBody>
                    <a:bodyPr/>
                    <a:lstStyle/>
                    <a:p>
                      <a:pPr algn="just"/>
                      <a:r>
                        <a:rPr lang="en-IN" dirty="0"/>
                        <a:t>               CONTENTS</a:t>
                      </a:r>
                    </a:p>
                  </a:txBody>
                  <a:tcPr anchor="ctr"/>
                </a:tc>
                <a:tc>
                  <a:txBody>
                    <a:bodyPr/>
                    <a:lstStyle/>
                    <a:p>
                      <a:r>
                        <a:rPr lang="en-IN" dirty="0"/>
                        <a:t>      SLIDE NO.</a:t>
                      </a:r>
                    </a:p>
                  </a:txBody>
                  <a:tcPr/>
                </a:tc>
                <a:extLst>
                  <a:ext uri="{0D108BD9-81ED-4DB2-BD59-A6C34878D82A}">
                    <a16:rowId xmlns:a16="http://schemas.microsoft.com/office/drawing/2014/main" val="1803120690"/>
                  </a:ext>
                </a:extLst>
              </a:tr>
              <a:tr h="514952">
                <a:tc>
                  <a:txBody>
                    <a:bodyPr/>
                    <a:lstStyle/>
                    <a:p>
                      <a:r>
                        <a:rPr lang="en-IN" dirty="0"/>
                        <a:t>1</a:t>
                      </a:r>
                    </a:p>
                  </a:txBody>
                  <a:tcPr/>
                </a:tc>
                <a:tc>
                  <a:txBody>
                    <a:bodyPr/>
                    <a:lstStyle/>
                    <a:p>
                      <a:r>
                        <a:rPr lang="en-IN" dirty="0"/>
                        <a:t>OBJECTIVE</a:t>
                      </a:r>
                    </a:p>
                  </a:txBody>
                  <a:tcPr/>
                </a:tc>
                <a:tc>
                  <a:txBody>
                    <a:bodyPr/>
                    <a:lstStyle/>
                    <a:p>
                      <a:r>
                        <a:rPr lang="en-IN" dirty="0"/>
                        <a:t>3</a:t>
                      </a:r>
                    </a:p>
                  </a:txBody>
                  <a:tcPr/>
                </a:tc>
                <a:extLst>
                  <a:ext uri="{0D108BD9-81ED-4DB2-BD59-A6C34878D82A}">
                    <a16:rowId xmlns:a16="http://schemas.microsoft.com/office/drawing/2014/main" val="3610935012"/>
                  </a:ext>
                </a:extLst>
              </a:tr>
              <a:tr h="514952">
                <a:tc>
                  <a:txBody>
                    <a:bodyPr/>
                    <a:lstStyle/>
                    <a:p>
                      <a:r>
                        <a:rPr lang="en-IN" dirty="0"/>
                        <a:t>2</a:t>
                      </a:r>
                    </a:p>
                  </a:txBody>
                  <a:tcPr/>
                </a:tc>
                <a:tc>
                  <a:txBody>
                    <a:bodyPr/>
                    <a:lstStyle/>
                    <a:p>
                      <a:r>
                        <a:rPr lang="en-IN" dirty="0"/>
                        <a:t>COMPONENTS</a:t>
                      </a:r>
                    </a:p>
                  </a:txBody>
                  <a:tcPr/>
                </a:tc>
                <a:tc>
                  <a:txBody>
                    <a:bodyPr/>
                    <a:lstStyle/>
                    <a:p>
                      <a:r>
                        <a:rPr lang="en-IN" dirty="0"/>
                        <a:t>4</a:t>
                      </a:r>
                    </a:p>
                  </a:txBody>
                  <a:tcPr/>
                </a:tc>
                <a:extLst>
                  <a:ext uri="{0D108BD9-81ED-4DB2-BD59-A6C34878D82A}">
                    <a16:rowId xmlns:a16="http://schemas.microsoft.com/office/drawing/2014/main" val="82623037"/>
                  </a:ext>
                </a:extLst>
              </a:tr>
              <a:tr h="514952">
                <a:tc>
                  <a:txBody>
                    <a:bodyPr/>
                    <a:lstStyle/>
                    <a:p>
                      <a:r>
                        <a:rPr lang="en-IN" dirty="0"/>
                        <a:t>3</a:t>
                      </a:r>
                    </a:p>
                  </a:txBody>
                  <a:tcPr/>
                </a:tc>
                <a:tc>
                  <a:txBody>
                    <a:bodyPr/>
                    <a:lstStyle/>
                    <a:p>
                      <a:r>
                        <a:rPr lang="en-IN" dirty="0"/>
                        <a:t>LITERATURE SURVEY</a:t>
                      </a:r>
                    </a:p>
                  </a:txBody>
                  <a:tcPr/>
                </a:tc>
                <a:tc>
                  <a:txBody>
                    <a:bodyPr/>
                    <a:lstStyle/>
                    <a:p>
                      <a:r>
                        <a:rPr lang="en-IN" dirty="0"/>
                        <a:t>6</a:t>
                      </a:r>
                    </a:p>
                  </a:txBody>
                  <a:tcPr/>
                </a:tc>
                <a:extLst>
                  <a:ext uri="{0D108BD9-81ED-4DB2-BD59-A6C34878D82A}">
                    <a16:rowId xmlns:a16="http://schemas.microsoft.com/office/drawing/2014/main" val="2368239254"/>
                  </a:ext>
                </a:extLst>
              </a:tr>
              <a:tr h="514952">
                <a:tc>
                  <a:txBody>
                    <a:bodyPr/>
                    <a:lstStyle/>
                    <a:p>
                      <a:r>
                        <a:rPr lang="en-IN" dirty="0"/>
                        <a:t>4</a:t>
                      </a:r>
                    </a:p>
                  </a:txBody>
                  <a:tcPr/>
                </a:tc>
                <a:tc>
                  <a:txBody>
                    <a:bodyPr/>
                    <a:lstStyle/>
                    <a:p>
                      <a:r>
                        <a:rPr lang="en-IN" dirty="0"/>
                        <a:t>METHODOLOGY</a:t>
                      </a:r>
                    </a:p>
                  </a:txBody>
                  <a:tcPr/>
                </a:tc>
                <a:tc>
                  <a:txBody>
                    <a:bodyPr/>
                    <a:lstStyle/>
                    <a:p>
                      <a:r>
                        <a:rPr lang="en-IN" dirty="0"/>
                        <a:t>10</a:t>
                      </a:r>
                    </a:p>
                  </a:txBody>
                  <a:tcPr/>
                </a:tc>
                <a:extLst>
                  <a:ext uri="{0D108BD9-81ED-4DB2-BD59-A6C34878D82A}">
                    <a16:rowId xmlns:a16="http://schemas.microsoft.com/office/drawing/2014/main" val="2997438226"/>
                  </a:ext>
                </a:extLst>
              </a:tr>
              <a:tr h="514952">
                <a:tc>
                  <a:txBody>
                    <a:bodyPr/>
                    <a:lstStyle/>
                    <a:p>
                      <a:r>
                        <a:rPr lang="en-IN" dirty="0"/>
                        <a:t>5</a:t>
                      </a:r>
                    </a:p>
                  </a:txBody>
                  <a:tcPr/>
                </a:tc>
                <a:tc>
                  <a:txBody>
                    <a:bodyPr/>
                    <a:lstStyle/>
                    <a:p>
                      <a:r>
                        <a:rPr lang="en-IN" dirty="0"/>
                        <a:t>SCHEMATIC DIAGRAM</a:t>
                      </a:r>
                    </a:p>
                  </a:txBody>
                  <a:tcPr/>
                </a:tc>
                <a:tc>
                  <a:txBody>
                    <a:bodyPr/>
                    <a:lstStyle/>
                    <a:p>
                      <a:r>
                        <a:rPr lang="en-IN" dirty="0"/>
                        <a:t>11</a:t>
                      </a:r>
                    </a:p>
                  </a:txBody>
                  <a:tcPr/>
                </a:tc>
                <a:extLst>
                  <a:ext uri="{0D108BD9-81ED-4DB2-BD59-A6C34878D82A}">
                    <a16:rowId xmlns:a16="http://schemas.microsoft.com/office/drawing/2014/main" val="2903358300"/>
                  </a:ext>
                </a:extLst>
              </a:tr>
              <a:tr h="514952">
                <a:tc>
                  <a:txBody>
                    <a:bodyPr/>
                    <a:lstStyle/>
                    <a:p>
                      <a:r>
                        <a:rPr lang="en-IN" dirty="0"/>
                        <a:t>6</a:t>
                      </a:r>
                    </a:p>
                  </a:txBody>
                  <a:tcPr/>
                </a:tc>
                <a:tc>
                  <a:txBody>
                    <a:bodyPr/>
                    <a:lstStyle/>
                    <a:p>
                      <a:r>
                        <a:rPr lang="en-IN" dirty="0"/>
                        <a:t>SOFTWARE CODE</a:t>
                      </a:r>
                    </a:p>
                  </a:txBody>
                  <a:tcPr/>
                </a:tc>
                <a:tc>
                  <a:txBody>
                    <a:bodyPr/>
                    <a:lstStyle/>
                    <a:p>
                      <a:r>
                        <a:rPr lang="en-IN" dirty="0"/>
                        <a:t>12</a:t>
                      </a:r>
                    </a:p>
                  </a:txBody>
                  <a:tcPr/>
                </a:tc>
                <a:extLst>
                  <a:ext uri="{0D108BD9-81ED-4DB2-BD59-A6C34878D82A}">
                    <a16:rowId xmlns:a16="http://schemas.microsoft.com/office/drawing/2014/main" val="553973089"/>
                  </a:ext>
                </a:extLst>
              </a:tr>
              <a:tr h="514952">
                <a:tc>
                  <a:txBody>
                    <a:bodyPr/>
                    <a:lstStyle/>
                    <a:p>
                      <a:r>
                        <a:rPr lang="en-IN" dirty="0"/>
                        <a:t>7</a:t>
                      </a:r>
                    </a:p>
                  </a:txBody>
                  <a:tcPr/>
                </a:tc>
                <a:tc>
                  <a:txBody>
                    <a:bodyPr/>
                    <a:lstStyle/>
                    <a:p>
                      <a:r>
                        <a:rPr lang="en-IN" dirty="0"/>
                        <a:t>EXPENDITURE STATEMENT</a:t>
                      </a:r>
                    </a:p>
                  </a:txBody>
                  <a:tcPr/>
                </a:tc>
                <a:tc>
                  <a:txBody>
                    <a:bodyPr/>
                    <a:lstStyle/>
                    <a:p>
                      <a:r>
                        <a:rPr lang="en-IN" dirty="0"/>
                        <a:t>16</a:t>
                      </a:r>
                    </a:p>
                  </a:txBody>
                  <a:tcPr/>
                </a:tc>
                <a:extLst>
                  <a:ext uri="{0D108BD9-81ED-4DB2-BD59-A6C34878D82A}">
                    <a16:rowId xmlns:a16="http://schemas.microsoft.com/office/drawing/2014/main" val="3612544089"/>
                  </a:ext>
                </a:extLst>
              </a:tr>
              <a:tr h="514952">
                <a:tc>
                  <a:txBody>
                    <a:bodyPr/>
                    <a:lstStyle/>
                    <a:p>
                      <a:r>
                        <a:rPr lang="en-IN" dirty="0"/>
                        <a:t>8</a:t>
                      </a:r>
                    </a:p>
                  </a:txBody>
                  <a:tcPr/>
                </a:tc>
                <a:tc>
                  <a:txBody>
                    <a:bodyPr/>
                    <a:lstStyle/>
                    <a:p>
                      <a:r>
                        <a:rPr lang="en-IN" dirty="0"/>
                        <a:t>RESULT</a:t>
                      </a:r>
                    </a:p>
                  </a:txBody>
                  <a:tcPr/>
                </a:tc>
                <a:tc>
                  <a:txBody>
                    <a:bodyPr/>
                    <a:lstStyle/>
                    <a:p>
                      <a:r>
                        <a:rPr lang="en-IN" dirty="0"/>
                        <a:t>17</a:t>
                      </a:r>
                    </a:p>
                  </a:txBody>
                  <a:tcPr/>
                </a:tc>
                <a:extLst>
                  <a:ext uri="{0D108BD9-81ED-4DB2-BD59-A6C34878D82A}">
                    <a16:rowId xmlns:a16="http://schemas.microsoft.com/office/drawing/2014/main" val="3769712715"/>
                  </a:ext>
                </a:extLst>
              </a:tr>
              <a:tr h="514952">
                <a:tc>
                  <a:txBody>
                    <a:bodyPr/>
                    <a:lstStyle/>
                    <a:p>
                      <a:r>
                        <a:rPr lang="en-IN" dirty="0"/>
                        <a:t>9</a:t>
                      </a:r>
                    </a:p>
                  </a:txBody>
                  <a:tcPr/>
                </a:tc>
                <a:tc>
                  <a:txBody>
                    <a:bodyPr/>
                    <a:lstStyle/>
                    <a:p>
                      <a:r>
                        <a:rPr lang="en-IN" dirty="0"/>
                        <a:t>FUTURE SCOPE AND CONCLUSION</a:t>
                      </a:r>
                    </a:p>
                  </a:txBody>
                  <a:tcPr/>
                </a:tc>
                <a:tc>
                  <a:txBody>
                    <a:bodyPr/>
                    <a:lstStyle/>
                    <a:p>
                      <a:r>
                        <a:rPr lang="en-IN" dirty="0"/>
                        <a:t>18</a:t>
                      </a:r>
                    </a:p>
                  </a:txBody>
                  <a:tcPr/>
                </a:tc>
                <a:extLst>
                  <a:ext uri="{0D108BD9-81ED-4DB2-BD59-A6C34878D82A}">
                    <a16:rowId xmlns:a16="http://schemas.microsoft.com/office/drawing/2014/main" val="2892065525"/>
                  </a:ext>
                </a:extLst>
              </a:tr>
            </a:tbl>
          </a:graphicData>
        </a:graphic>
      </p:graphicFrame>
    </p:spTree>
    <p:extLst>
      <p:ext uri="{BB962C8B-B14F-4D97-AF65-F5344CB8AC3E}">
        <p14:creationId xmlns:p14="http://schemas.microsoft.com/office/powerpoint/2010/main" val="33826836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5">
            <a:extLst>
              <a:ext uri="{FF2B5EF4-FFF2-40B4-BE49-F238E27FC236}">
                <a16:creationId xmlns:a16="http://schemas.microsoft.com/office/drawing/2014/main" id="{A92EAD00-B89A-12A0-BB66-FEF2D9332F12}"/>
              </a:ext>
            </a:extLst>
          </p:cNvPr>
          <p:cNvSpPr txBox="1">
            <a:spLocks/>
          </p:cNvSpPr>
          <p:nvPr/>
        </p:nvSpPr>
        <p:spPr>
          <a:xfrm>
            <a:off x="4594618" y="359182"/>
            <a:ext cx="2512035" cy="676656"/>
          </a:xfrm>
          <a:prstGeom prst="rect">
            <a:avLst/>
          </a:prstGeom>
        </p:spPr>
        <p:txBody>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OBJECTIVE</a:t>
            </a:r>
            <a:endParaRPr lang="en-US" dirty="0"/>
          </a:p>
        </p:txBody>
      </p:sp>
      <p:sp>
        <p:nvSpPr>
          <p:cNvPr id="3" name="Text Placeholder 26">
            <a:extLst>
              <a:ext uri="{FF2B5EF4-FFF2-40B4-BE49-F238E27FC236}">
                <a16:creationId xmlns:a16="http://schemas.microsoft.com/office/drawing/2014/main" id="{A470F52C-0B5D-C47C-5BF0-3F6B3C8F7492}"/>
              </a:ext>
            </a:extLst>
          </p:cNvPr>
          <p:cNvSpPr txBox="1">
            <a:spLocks/>
          </p:cNvSpPr>
          <p:nvPr/>
        </p:nvSpPr>
        <p:spPr>
          <a:xfrm>
            <a:off x="736493" y="1819334"/>
            <a:ext cx="4572000" cy="2816833"/>
          </a:xfrm>
          <a:prstGeom prst="rect">
            <a:avLst/>
          </a:prstGeom>
        </p:spPr>
        <p:txBody>
          <a:bodyPr>
            <a:normAutofit fontScale="25000" lnSpcReduction="20000"/>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a:lnSpc>
                <a:spcPct val="250000"/>
              </a:lnSpc>
              <a:buFont typeface="Wingdings" panose="05000000000000000000" pitchFamily="2" charset="2"/>
              <a:buChar char="q"/>
            </a:pPr>
            <a:r>
              <a:rPr lang="en-US" sz="9800" dirty="0">
                <a:latin typeface="+mj-lt"/>
              </a:rPr>
              <a:t>Transportation</a:t>
            </a:r>
          </a:p>
          <a:p>
            <a:pPr>
              <a:lnSpc>
                <a:spcPct val="250000"/>
              </a:lnSpc>
              <a:buFont typeface="Wingdings" panose="05000000000000000000" pitchFamily="2" charset="2"/>
              <a:buChar char="q"/>
            </a:pPr>
            <a:r>
              <a:rPr lang="en-US" sz="9800" dirty="0">
                <a:latin typeface="+mj-lt"/>
              </a:rPr>
              <a:t>Self Balanced</a:t>
            </a:r>
          </a:p>
          <a:p>
            <a:pPr>
              <a:lnSpc>
                <a:spcPct val="250000"/>
              </a:lnSpc>
              <a:buFont typeface="Wingdings" panose="05000000000000000000" pitchFamily="2" charset="2"/>
              <a:buChar char="q"/>
            </a:pPr>
            <a:r>
              <a:rPr lang="en-US" sz="9800" dirty="0">
                <a:latin typeface="+mj-lt"/>
              </a:rPr>
              <a:t>Portable</a:t>
            </a:r>
          </a:p>
          <a:p>
            <a:endParaRPr lang="en-US" dirty="0"/>
          </a:p>
          <a:p>
            <a:endParaRPr lang="en-US" dirty="0"/>
          </a:p>
        </p:txBody>
      </p:sp>
    </p:spTree>
    <p:extLst>
      <p:ext uri="{BB962C8B-B14F-4D97-AF65-F5344CB8AC3E}">
        <p14:creationId xmlns:p14="http://schemas.microsoft.com/office/powerpoint/2010/main" val="42013578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4404BCC-613C-70C6-1ED1-42573A26500D}"/>
              </a:ext>
            </a:extLst>
          </p:cNvPr>
          <p:cNvSpPr txBox="1">
            <a:spLocks/>
          </p:cNvSpPr>
          <p:nvPr/>
        </p:nvSpPr>
        <p:spPr>
          <a:xfrm>
            <a:off x="3920289" y="302049"/>
            <a:ext cx="3130216" cy="675774"/>
          </a:xfrm>
          <a:prstGeom prst="rect">
            <a:avLst/>
          </a:prstGeom>
        </p:spPr>
        <p:txBody>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COMPONENTS</a:t>
            </a:r>
          </a:p>
        </p:txBody>
      </p:sp>
      <p:pic>
        <p:nvPicPr>
          <p:cNvPr id="4" name="Picture 2" descr="Craft Affair | Natural Pine Wooden Plank (12x6 inch, 3 Pcs) | Wooden Wall  Hanger Plank For Macrame, DIY, Art and Craft &amp; More Pine Wood Veneer Price  in India - Buy">
            <a:extLst>
              <a:ext uri="{FF2B5EF4-FFF2-40B4-BE49-F238E27FC236}">
                <a16:creationId xmlns:a16="http://schemas.microsoft.com/office/drawing/2014/main" id="{E85FD675-152F-6667-698D-1D27CB59FE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5385" y="1354910"/>
            <a:ext cx="2195739" cy="188960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5" name="Picture 4" descr="Arduino UNO R3 Board at Rs 550/piece | Vadodara | ID: 17350004362">
            <a:extLst>
              <a:ext uri="{FF2B5EF4-FFF2-40B4-BE49-F238E27FC236}">
                <a16:creationId xmlns:a16="http://schemas.microsoft.com/office/drawing/2014/main" id="{EEE3A6D3-670E-E8E6-45D8-EBC3C7E41E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6120" y="1258107"/>
            <a:ext cx="3014772" cy="208320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Robotic Wheel for high load, 11cm x 4cm, Wheel for robot,For ...">
            <a:extLst>
              <a:ext uri="{FF2B5EF4-FFF2-40B4-BE49-F238E27FC236}">
                <a16:creationId xmlns:a16="http://schemas.microsoft.com/office/drawing/2014/main" id="{9E0EA68F-C277-8ECB-F3C7-8518FCBC99B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83412" y="3857116"/>
            <a:ext cx="2253624" cy="204379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DFF42FBF-A49C-D263-D515-ED3EC621372C}"/>
              </a:ext>
            </a:extLst>
          </p:cNvPr>
          <p:cNvSpPr txBox="1"/>
          <p:nvPr/>
        </p:nvSpPr>
        <p:spPr>
          <a:xfrm>
            <a:off x="1957394" y="3323893"/>
            <a:ext cx="1851719" cy="369332"/>
          </a:xfrm>
          <a:prstGeom prst="rect">
            <a:avLst/>
          </a:prstGeom>
          <a:noFill/>
        </p:spPr>
        <p:txBody>
          <a:bodyPr wrap="square" rtlCol="0">
            <a:spAutoFit/>
          </a:bodyPr>
          <a:lstStyle/>
          <a:p>
            <a:r>
              <a:rPr lang="en-US" dirty="0"/>
              <a:t>WOODEN PLANK</a:t>
            </a:r>
          </a:p>
        </p:txBody>
      </p:sp>
      <p:sp>
        <p:nvSpPr>
          <p:cNvPr id="9" name="TextBox 8">
            <a:extLst>
              <a:ext uri="{FF2B5EF4-FFF2-40B4-BE49-F238E27FC236}">
                <a16:creationId xmlns:a16="http://schemas.microsoft.com/office/drawing/2014/main" id="{C3E13B2A-EBD0-B073-C58C-E60034115A84}"/>
              </a:ext>
            </a:extLst>
          </p:cNvPr>
          <p:cNvSpPr txBox="1"/>
          <p:nvPr/>
        </p:nvSpPr>
        <p:spPr>
          <a:xfrm>
            <a:off x="7282112" y="3383962"/>
            <a:ext cx="1927149" cy="369332"/>
          </a:xfrm>
          <a:prstGeom prst="rect">
            <a:avLst/>
          </a:prstGeom>
          <a:noFill/>
        </p:spPr>
        <p:txBody>
          <a:bodyPr wrap="square" rtlCol="0">
            <a:spAutoFit/>
          </a:bodyPr>
          <a:lstStyle/>
          <a:p>
            <a:r>
              <a:rPr lang="en-US" dirty="0"/>
              <a:t>ARDUINO UNO</a:t>
            </a:r>
          </a:p>
        </p:txBody>
      </p:sp>
      <p:sp>
        <p:nvSpPr>
          <p:cNvPr id="10" name="TextBox 9">
            <a:extLst>
              <a:ext uri="{FF2B5EF4-FFF2-40B4-BE49-F238E27FC236}">
                <a16:creationId xmlns:a16="http://schemas.microsoft.com/office/drawing/2014/main" id="{C913F1DE-4FBF-44AF-8DF0-D13CF52B6858}"/>
              </a:ext>
            </a:extLst>
          </p:cNvPr>
          <p:cNvSpPr txBox="1"/>
          <p:nvPr/>
        </p:nvSpPr>
        <p:spPr>
          <a:xfrm>
            <a:off x="8583412" y="6071303"/>
            <a:ext cx="2590800" cy="369332"/>
          </a:xfrm>
          <a:prstGeom prst="rect">
            <a:avLst/>
          </a:prstGeom>
          <a:noFill/>
        </p:spPr>
        <p:txBody>
          <a:bodyPr wrap="square" rtlCol="0">
            <a:spAutoFit/>
          </a:bodyPr>
          <a:lstStyle/>
          <a:p>
            <a:r>
              <a:rPr lang="en-IN" dirty="0"/>
              <a:t>70MM  WHITE WHEELS</a:t>
            </a:r>
          </a:p>
        </p:txBody>
      </p:sp>
      <p:pic>
        <p:nvPicPr>
          <p:cNvPr id="11" name="Picture 10" descr="LRSA 12V 2A Power Adaptor, Power Supply SMPS Ac Input 100-240V Dc Output -  LRSA">
            <a:extLst>
              <a:ext uri="{FF2B5EF4-FFF2-40B4-BE49-F238E27FC236}">
                <a16:creationId xmlns:a16="http://schemas.microsoft.com/office/drawing/2014/main" id="{6928549D-71C0-4F3C-AC56-7CB9881D0EDD}"/>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731669" y="3825979"/>
            <a:ext cx="2392680" cy="191516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2" name="TextBox 11">
            <a:extLst>
              <a:ext uri="{FF2B5EF4-FFF2-40B4-BE49-F238E27FC236}">
                <a16:creationId xmlns:a16="http://schemas.microsoft.com/office/drawing/2014/main" id="{4A45E94D-1E59-A3E1-6DD3-19C14DAC89DA}"/>
              </a:ext>
            </a:extLst>
          </p:cNvPr>
          <p:cNvSpPr txBox="1"/>
          <p:nvPr/>
        </p:nvSpPr>
        <p:spPr>
          <a:xfrm>
            <a:off x="4011646" y="5926169"/>
            <a:ext cx="1999565" cy="369332"/>
          </a:xfrm>
          <a:prstGeom prst="rect">
            <a:avLst/>
          </a:prstGeom>
          <a:noFill/>
        </p:spPr>
        <p:txBody>
          <a:bodyPr wrap="square" rtlCol="0">
            <a:spAutoFit/>
          </a:bodyPr>
          <a:lstStyle/>
          <a:p>
            <a:r>
              <a:rPr lang="en-IN" dirty="0"/>
              <a:t>12 V,2A,ADAPTER</a:t>
            </a:r>
          </a:p>
        </p:txBody>
      </p:sp>
    </p:spTree>
    <p:extLst>
      <p:ext uri="{BB962C8B-B14F-4D97-AF65-F5344CB8AC3E}">
        <p14:creationId xmlns:p14="http://schemas.microsoft.com/office/powerpoint/2010/main" val="449916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2" presetClass="entr" presetSubtype="4"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ULTRASONIC SENSOR HC-SR04 at Rs 55 | Ultrasonic Proximity Sensors in Mumbai  | ID: 22439735112">
            <a:extLst>
              <a:ext uri="{FF2B5EF4-FFF2-40B4-BE49-F238E27FC236}">
                <a16:creationId xmlns:a16="http://schemas.microsoft.com/office/drawing/2014/main" id="{D5CEC277-97DB-C776-3410-B6F89E56CA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5786" y="526025"/>
            <a:ext cx="1815981" cy="181598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3" name="Picture 2" descr="SG90 Servo motor TowerPro">
            <a:extLst>
              <a:ext uri="{FF2B5EF4-FFF2-40B4-BE49-F238E27FC236}">
                <a16:creationId xmlns:a16="http://schemas.microsoft.com/office/drawing/2014/main" id="{E0D06A0B-6772-59AA-50C9-50E4F3D79F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12406" y="429772"/>
            <a:ext cx="2619375" cy="17430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EC8F8CDC-930D-6AED-3D30-1E28A47EDB92}"/>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59668" t="20030" r="4188" b="37601"/>
          <a:stretch/>
        </p:blipFill>
        <p:spPr bwMode="auto">
          <a:xfrm rot="21416554">
            <a:off x="1551455" y="3899969"/>
            <a:ext cx="2656205" cy="194564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53640926-AAD7-44D8-BBD7-CCE9431645EC}">
              <a14:shadowObscured xmlns:a14="http://schemas.microsoft.com/office/drawing/2010/main"/>
            </a:ext>
          </a:extLst>
        </p:spPr>
      </p:pic>
      <p:pic>
        <p:nvPicPr>
          <p:cNvPr id="5" name="Picture 4" descr="30 RPM 12V Centre Shaft DC Geared Motor White buy online at low price in  India - ElectronicsComp.com">
            <a:extLst>
              <a:ext uri="{FF2B5EF4-FFF2-40B4-BE49-F238E27FC236}">
                <a16:creationId xmlns:a16="http://schemas.microsoft.com/office/drawing/2014/main" id="{060B5920-6294-8465-C4DB-B1C9F1BED44A}"/>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615288" y="3429000"/>
            <a:ext cx="2213610" cy="221361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TextBox 7">
            <a:extLst>
              <a:ext uri="{FF2B5EF4-FFF2-40B4-BE49-F238E27FC236}">
                <a16:creationId xmlns:a16="http://schemas.microsoft.com/office/drawing/2014/main" id="{0370AE55-75FE-158C-64CE-4D10EEA46F07}"/>
              </a:ext>
            </a:extLst>
          </p:cNvPr>
          <p:cNvSpPr txBox="1"/>
          <p:nvPr/>
        </p:nvSpPr>
        <p:spPr>
          <a:xfrm>
            <a:off x="1249829" y="2671010"/>
            <a:ext cx="3007894" cy="369332"/>
          </a:xfrm>
          <a:prstGeom prst="rect">
            <a:avLst/>
          </a:prstGeom>
          <a:noFill/>
        </p:spPr>
        <p:txBody>
          <a:bodyPr wrap="square" rtlCol="0">
            <a:spAutoFit/>
          </a:bodyPr>
          <a:lstStyle/>
          <a:p>
            <a:r>
              <a:rPr lang="en-IN" dirty="0"/>
              <a:t>ULTRASONIC SENSOR HC-SR04</a:t>
            </a:r>
          </a:p>
        </p:txBody>
      </p:sp>
      <p:sp>
        <p:nvSpPr>
          <p:cNvPr id="9" name="TextBox 8">
            <a:extLst>
              <a:ext uri="{FF2B5EF4-FFF2-40B4-BE49-F238E27FC236}">
                <a16:creationId xmlns:a16="http://schemas.microsoft.com/office/drawing/2014/main" id="{4BF1C059-2425-5FD2-822B-D93D569D19A0}"/>
              </a:ext>
            </a:extLst>
          </p:cNvPr>
          <p:cNvSpPr txBox="1"/>
          <p:nvPr/>
        </p:nvSpPr>
        <p:spPr>
          <a:xfrm>
            <a:off x="7934279" y="2301678"/>
            <a:ext cx="1748589" cy="369332"/>
          </a:xfrm>
          <a:prstGeom prst="rect">
            <a:avLst/>
          </a:prstGeom>
          <a:noFill/>
        </p:spPr>
        <p:txBody>
          <a:bodyPr wrap="square" rtlCol="0">
            <a:spAutoFit/>
          </a:bodyPr>
          <a:lstStyle/>
          <a:p>
            <a:r>
              <a:rPr lang="en-IN" dirty="0"/>
              <a:t>SERVO MOTOR</a:t>
            </a:r>
          </a:p>
        </p:txBody>
      </p:sp>
      <p:sp>
        <p:nvSpPr>
          <p:cNvPr id="10" name="TextBox 9">
            <a:extLst>
              <a:ext uri="{FF2B5EF4-FFF2-40B4-BE49-F238E27FC236}">
                <a16:creationId xmlns:a16="http://schemas.microsoft.com/office/drawing/2014/main" id="{F03B5841-8A38-E800-711C-766AF0FF8868}"/>
              </a:ext>
            </a:extLst>
          </p:cNvPr>
          <p:cNvSpPr txBox="1"/>
          <p:nvPr/>
        </p:nvSpPr>
        <p:spPr>
          <a:xfrm>
            <a:off x="1654419" y="6075120"/>
            <a:ext cx="2450275" cy="369332"/>
          </a:xfrm>
          <a:prstGeom prst="rect">
            <a:avLst/>
          </a:prstGeom>
          <a:noFill/>
        </p:spPr>
        <p:txBody>
          <a:bodyPr wrap="square" rtlCol="0">
            <a:spAutoFit/>
          </a:bodyPr>
          <a:lstStyle/>
          <a:p>
            <a:r>
              <a:rPr lang="en-IN" dirty="0"/>
              <a:t>L293D MOTOR  DRIVE</a:t>
            </a:r>
          </a:p>
        </p:txBody>
      </p:sp>
      <p:sp>
        <p:nvSpPr>
          <p:cNvPr id="12" name="TextBox 11">
            <a:extLst>
              <a:ext uri="{FF2B5EF4-FFF2-40B4-BE49-F238E27FC236}">
                <a16:creationId xmlns:a16="http://schemas.microsoft.com/office/drawing/2014/main" id="{22FBC3EA-60F1-FB2A-0BAD-39878A1E120E}"/>
              </a:ext>
            </a:extLst>
          </p:cNvPr>
          <p:cNvSpPr txBox="1"/>
          <p:nvPr/>
        </p:nvSpPr>
        <p:spPr>
          <a:xfrm>
            <a:off x="7260509" y="5855368"/>
            <a:ext cx="3198943" cy="369332"/>
          </a:xfrm>
          <a:prstGeom prst="rect">
            <a:avLst/>
          </a:prstGeom>
          <a:noFill/>
        </p:spPr>
        <p:txBody>
          <a:bodyPr wrap="square" rtlCol="0">
            <a:spAutoFit/>
          </a:bodyPr>
          <a:lstStyle/>
          <a:p>
            <a:r>
              <a:rPr lang="en-IN" dirty="0"/>
              <a:t>12V,30RPM DC GEARED MOTOR</a:t>
            </a:r>
          </a:p>
        </p:txBody>
      </p:sp>
    </p:spTree>
    <p:extLst>
      <p:ext uri="{BB962C8B-B14F-4D97-AF65-F5344CB8AC3E}">
        <p14:creationId xmlns:p14="http://schemas.microsoft.com/office/powerpoint/2010/main" val="1458660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DCA86-195F-BC86-8083-E41490BBACEF}"/>
              </a:ext>
            </a:extLst>
          </p:cNvPr>
          <p:cNvSpPr>
            <a:spLocks noGrp="1"/>
          </p:cNvSpPr>
          <p:nvPr>
            <p:ph type="title"/>
          </p:nvPr>
        </p:nvSpPr>
        <p:spPr>
          <a:xfrm>
            <a:off x="3565359" y="216569"/>
            <a:ext cx="4158915" cy="697832"/>
          </a:xfrm>
        </p:spPr>
        <p:txBody>
          <a:bodyPr>
            <a:normAutofit fontScale="90000"/>
          </a:bodyPr>
          <a:lstStyle/>
          <a:p>
            <a:r>
              <a:rPr lang="en-IN" dirty="0"/>
              <a:t>LITERATURE SURVEY</a:t>
            </a:r>
          </a:p>
        </p:txBody>
      </p:sp>
      <p:sp>
        <p:nvSpPr>
          <p:cNvPr id="4" name="TextBox 3">
            <a:extLst>
              <a:ext uri="{FF2B5EF4-FFF2-40B4-BE49-F238E27FC236}">
                <a16:creationId xmlns:a16="http://schemas.microsoft.com/office/drawing/2014/main" id="{0015F534-0D43-A292-53A7-20ED7B30BD1B}"/>
              </a:ext>
            </a:extLst>
          </p:cNvPr>
          <p:cNvSpPr txBox="1"/>
          <p:nvPr/>
        </p:nvSpPr>
        <p:spPr>
          <a:xfrm>
            <a:off x="136358" y="1313645"/>
            <a:ext cx="11389894" cy="1998111"/>
          </a:xfrm>
          <a:prstGeom prst="rect">
            <a:avLst/>
          </a:prstGeom>
          <a:noFill/>
        </p:spPr>
        <p:txBody>
          <a:bodyPr wrap="square">
            <a:spAutoFit/>
          </a:bodyPr>
          <a:lstStyle/>
          <a:p>
            <a:pPr marL="768350" marR="658495" algn="just">
              <a:lnSpc>
                <a:spcPct val="150000"/>
              </a:lnSpc>
              <a:spcAft>
                <a:spcPts val="0"/>
              </a:spcAft>
            </a:pPr>
            <a:r>
              <a:rPr lang="en-US" sz="1200" dirty="0">
                <a:effectLst/>
                <a:latin typeface="Times New Roman" panose="02020603050405020304" pitchFamily="18" charset="0"/>
                <a:ea typeface="Times New Roman" panose="02020603050405020304" pitchFamily="18" charset="0"/>
              </a:rPr>
              <a:t>1. Hover board is a self-balancing personal transporter consisting of two motorized wheels with a</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typical gyroscopic- (made steady/made firm and strong) system. (Things sent out or given off)</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from</a:t>
            </a:r>
            <a:r>
              <a:rPr lang="en-US" sz="1200" spc="-4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(burning</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something</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inside)</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vehicles</a:t>
            </a:r>
            <a:r>
              <a:rPr lang="en-US" sz="1200" spc="-3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are</a:t>
            </a:r>
            <a:r>
              <a:rPr lang="en-US" sz="1200" spc="-4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on</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the</a:t>
            </a:r>
            <a:r>
              <a:rPr lang="en-US" sz="1200" spc="-4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rise</a:t>
            </a:r>
            <a:r>
              <a:rPr lang="en-US" sz="1200" spc="-4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every</a:t>
            </a:r>
            <a:r>
              <a:rPr lang="en-US" sz="1200" spc="-3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day.</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City-based</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cars</a:t>
            </a:r>
            <a:r>
              <a:rPr lang="en-US" sz="1200" spc="-3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and</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trucks</a:t>
            </a:r>
            <a:r>
              <a:rPr lang="en-US" sz="1200" spc="-3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has</a:t>
            </a:r>
            <a:r>
              <a:rPr lang="en-US" sz="1200" spc="-28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increased hugely over the years. Traffic jam leads to higher vehicle (things sent out or given off)</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and lower (existing all around you/quiet and relaxing) air quality. There can be no immediate</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solution to this issue, but another solution for ordinary personal transport is Hover board. So the</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hover</a:t>
            </a:r>
            <a:r>
              <a:rPr lang="en-US" sz="1200" spc="-4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boards</a:t>
            </a:r>
            <a:r>
              <a:rPr lang="en-US" sz="1200" spc="-3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are</a:t>
            </a:r>
            <a:r>
              <a:rPr lang="en-US" sz="1200" spc="-4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becoming</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more</a:t>
            </a:r>
            <a:r>
              <a:rPr lang="en-US" sz="1200" spc="-5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popular</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day</a:t>
            </a:r>
            <a:r>
              <a:rPr lang="en-US" sz="1200" spc="-4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by</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day.</a:t>
            </a:r>
            <a:r>
              <a:rPr lang="en-US" sz="1200" spc="-2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Butte</a:t>
            </a:r>
            <a:r>
              <a:rPr lang="en-US" sz="1200" spc="-5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complex</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electronics</a:t>
            </a:r>
            <a:r>
              <a:rPr lang="en-US" sz="1200" spc="-3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like</a:t>
            </a:r>
            <a:r>
              <a:rPr lang="en-US" sz="1200" spc="-4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acceleration-</a:t>
            </a:r>
            <a:r>
              <a:rPr lang="en-US" sz="1200" spc="-29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measuring</a:t>
            </a:r>
            <a:r>
              <a:rPr lang="en-US" sz="1200" spc="-6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device</a:t>
            </a:r>
            <a:r>
              <a:rPr lang="en-US" sz="1200" spc="-6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and</a:t>
            </a:r>
            <a:r>
              <a:rPr lang="en-US" sz="1200" spc="-3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gyroscope</a:t>
            </a:r>
            <a:r>
              <a:rPr lang="en-US" sz="1200" spc="-6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make</a:t>
            </a:r>
            <a:r>
              <a:rPr lang="en-US" sz="1200" spc="-3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it</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too</a:t>
            </a:r>
            <a:r>
              <a:rPr lang="en-US" sz="1200" spc="-5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expensive.</a:t>
            </a:r>
            <a:r>
              <a:rPr lang="en-US" sz="1200" spc="-6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This</a:t>
            </a:r>
            <a:r>
              <a:rPr lang="en-US" sz="1200" spc="-4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project</a:t>
            </a:r>
            <a:r>
              <a:rPr lang="en-US" sz="1200" spc="-6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involves</a:t>
            </a:r>
            <a:r>
              <a:rPr lang="en-US" sz="1200" spc="-5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the</a:t>
            </a:r>
            <a:r>
              <a:rPr lang="en-US" sz="1200" spc="-6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design,</a:t>
            </a:r>
            <a:r>
              <a:rPr lang="en-US" sz="1200" spc="-3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analysis,</a:t>
            </a:r>
            <a:r>
              <a:rPr lang="en-US" sz="1200" spc="-28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and lie/construction of an electric three-wheeled hovercraft. The system moves back and forth</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using</a:t>
            </a:r>
            <a:r>
              <a:rPr lang="en-US" sz="1200" spc="-1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the</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DPDT</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switch.</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A small</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wheel</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is used</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to</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balance</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the</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vehicle</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such</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that</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a</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gyroscope</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is not</a:t>
            </a:r>
            <a:r>
              <a:rPr lang="en-US" sz="1200" spc="-29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needed for balancing purposes. This project work aims to build a low-cost and (producing a lot</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with</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very little</a:t>
            </a:r>
            <a:r>
              <a:rPr lang="en-US" sz="1200" spc="-1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waste) Hover board.</a:t>
            </a:r>
            <a:endParaRPr lang="en-IN" sz="1200" dirty="0">
              <a:effectLst/>
              <a:latin typeface="Times New Roman" panose="02020603050405020304" pitchFamily="18" charset="0"/>
              <a:ea typeface="Times New Roman" panose="02020603050405020304" pitchFamily="18" charset="0"/>
            </a:endParaRPr>
          </a:p>
        </p:txBody>
      </p:sp>
      <p:sp>
        <p:nvSpPr>
          <p:cNvPr id="6" name="TextBox 5">
            <a:extLst>
              <a:ext uri="{FF2B5EF4-FFF2-40B4-BE49-F238E27FC236}">
                <a16:creationId xmlns:a16="http://schemas.microsoft.com/office/drawing/2014/main" id="{0BD420B9-6F8A-D66C-0266-07A94E364C64}"/>
              </a:ext>
            </a:extLst>
          </p:cNvPr>
          <p:cNvSpPr txBox="1"/>
          <p:nvPr/>
        </p:nvSpPr>
        <p:spPr>
          <a:xfrm>
            <a:off x="136358" y="3945543"/>
            <a:ext cx="10876547" cy="1785104"/>
          </a:xfrm>
          <a:prstGeom prst="rect">
            <a:avLst/>
          </a:prstGeom>
          <a:noFill/>
        </p:spPr>
        <p:txBody>
          <a:bodyPr wrap="square">
            <a:spAutoFit/>
          </a:bodyPr>
          <a:lstStyle/>
          <a:p>
            <a:pPr marL="768350" marR="658495" algn="just">
              <a:lnSpc>
                <a:spcPct val="150000"/>
              </a:lnSpc>
              <a:spcAft>
                <a:spcPts val="0"/>
              </a:spcAft>
            </a:pPr>
            <a:r>
              <a:rPr lang="en-US" sz="1200" dirty="0">
                <a:effectLst/>
                <a:latin typeface="Times New Roman" panose="02020603050405020304" pitchFamily="18" charset="0"/>
                <a:ea typeface="Times New Roman" panose="02020603050405020304" pitchFamily="18" charset="0"/>
              </a:rPr>
              <a:t>2. The</a:t>
            </a:r>
            <a:r>
              <a:rPr lang="en-US" sz="1200" spc="-7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present</a:t>
            </a:r>
            <a:r>
              <a:rPr lang="en-US" sz="1200" spc="-7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days</a:t>
            </a:r>
            <a:r>
              <a:rPr lang="en-US" sz="1200" spc="-6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we</a:t>
            </a:r>
            <a:r>
              <a:rPr lang="en-US" sz="1200" spc="-7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are</a:t>
            </a:r>
            <a:r>
              <a:rPr lang="en-US" sz="1200" spc="-7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dealing</a:t>
            </a:r>
            <a:r>
              <a:rPr lang="en-US" sz="1200" spc="-7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with</a:t>
            </a:r>
            <a:r>
              <a:rPr lang="en-US" sz="1200" spc="-6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a</a:t>
            </a:r>
            <a:r>
              <a:rPr lang="en-US" sz="1200" spc="-7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problem</a:t>
            </a:r>
            <a:r>
              <a:rPr lang="en-US" sz="1200" spc="-7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of</a:t>
            </a:r>
            <a:r>
              <a:rPr lang="en-US" sz="1200" spc="-6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increase</a:t>
            </a:r>
            <a:r>
              <a:rPr lang="en-US" sz="1200" spc="-7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in</a:t>
            </a:r>
            <a:r>
              <a:rPr lang="en-US" sz="1200" spc="-7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number</a:t>
            </a:r>
            <a:r>
              <a:rPr lang="en-US" sz="1200" spc="-6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of</a:t>
            </a:r>
            <a:r>
              <a:rPr lang="en-US" sz="1200" spc="-6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vehicles</a:t>
            </a:r>
            <a:r>
              <a:rPr lang="en-US" sz="1200" spc="-6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with</a:t>
            </a:r>
            <a:r>
              <a:rPr lang="en-US" sz="1200" spc="-7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ever-lasting</a:t>
            </a:r>
            <a:r>
              <a:rPr lang="en-US" sz="1200" spc="-29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demand</a:t>
            </a:r>
            <a:r>
              <a:rPr lang="en-US" sz="1200" spc="-1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of</a:t>
            </a:r>
            <a:r>
              <a:rPr lang="en-US" sz="1200" spc="-1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fuel</a:t>
            </a:r>
            <a:r>
              <a:rPr lang="en-US" sz="1200" spc="1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to</a:t>
            </a:r>
            <a:r>
              <a:rPr lang="en-US" sz="1200" spc="-1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run</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them.</a:t>
            </a:r>
            <a:r>
              <a:rPr lang="en-US" sz="1200" spc="-1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If</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this situation</a:t>
            </a:r>
            <a:r>
              <a:rPr lang="en-US" sz="1200" spc="-1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remains</a:t>
            </a:r>
            <a:r>
              <a:rPr lang="en-US" sz="1200" spc="2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with</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time</a:t>
            </a:r>
            <a:r>
              <a:rPr lang="en-US" sz="1200" spc="-2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it</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would</a:t>
            </a:r>
            <a:r>
              <a:rPr lang="en-US" sz="1200" spc="-1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be</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hard</a:t>
            </a:r>
            <a:r>
              <a:rPr lang="en-US" sz="1200" spc="-1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for</a:t>
            </a:r>
            <a:r>
              <a:rPr lang="en-US" sz="1200" spc="-1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us to</a:t>
            </a:r>
            <a:r>
              <a:rPr lang="en-US" sz="1200" spc="-1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save</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our</a:t>
            </a:r>
            <a:r>
              <a:rPr lang="en-US" sz="1200" spc="-29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future from increasing pollution and fuel demand. With time the population on earth increases</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obviously;</a:t>
            </a:r>
            <a:r>
              <a:rPr lang="en-US" sz="1200" spc="-4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which</a:t>
            </a:r>
            <a:r>
              <a:rPr lang="en-US" sz="1200" spc="-1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cannot</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be</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controlled</a:t>
            </a:r>
            <a:r>
              <a:rPr lang="en-US" sz="1200" spc="-1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so</a:t>
            </a:r>
            <a:r>
              <a:rPr lang="en-US" sz="1200" spc="-3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to</a:t>
            </a:r>
            <a:r>
              <a:rPr lang="en-US" sz="1200" spc="-1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satisfy</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the</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demands</a:t>
            </a:r>
            <a:r>
              <a:rPr lang="en-US" sz="1200" spc="-3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of</a:t>
            </a:r>
            <a:r>
              <a:rPr lang="en-US" sz="1200" spc="-3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fuel</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or</a:t>
            </a:r>
            <a:r>
              <a:rPr lang="en-US" sz="1200" spc="-1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energy</a:t>
            </a:r>
            <a:r>
              <a:rPr lang="en-US" sz="1200" spc="-1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in</a:t>
            </a:r>
            <a:r>
              <a:rPr lang="en-US" sz="1200" spc="-3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future</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world,</a:t>
            </a:r>
            <a:r>
              <a:rPr lang="en-US" sz="1200" spc="-29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effective steps should be taken as soon as possible. Our dependence on fuel can be reduced with</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another</a:t>
            </a:r>
            <a:r>
              <a:rPr lang="en-US" sz="1200" spc="-1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choice</a:t>
            </a:r>
            <a:r>
              <a:rPr lang="en-US" sz="1200" spc="-2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such</a:t>
            </a:r>
            <a:r>
              <a:rPr lang="en-US" sz="1200" spc="-3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as,</a:t>
            </a:r>
            <a:r>
              <a:rPr lang="en-US" sz="1200" spc="-3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use</a:t>
            </a:r>
            <a:r>
              <a:rPr lang="en-US" sz="1200" spc="-2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of</a:t>
            </a:r>
            <a:r>
              <a:rPr lang="en-US" sz="1200" spc="-3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electrical</a:t>
            </a:r>
            <a:r>
              <a:rPr lang="en-US" sz="1200" spc="-4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storage</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device</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operated</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vehicles.</a:t>
            </a:r>
            <a:r>
              <a:rPr lang="en-US" sz="1200" spc="-3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New</a:t>
            </a:r>
            <a:r>
              <a:rPr lang="en-US" sz="1200" spc="-2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technology</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should</a:t>
            </a:r>
            <a:r>
              <a:rPr lang="en-US" sz="1200" spc="-28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be</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put</a:t>
            </a:r>
            <a:r>
              <a:rPr lang="en-US" sz="1200" spc="-1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into use;</a:t>
            </a:r>
            <a:r>
              <a:rPr lang="en-US" sz="1200" spc="-1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use</a:t>
            </a:r>
            <a:r>
              <a:rPr lang="en-US" sz="1200" spc="-1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of eco-friendly</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vehicles</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should be</a:t>
            </a:r>
            <a:r>
              <a:rPr lang="en-US" sz="1200" spc="-1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encouraged</a:t>
            </a:r>
            <a:r>
              <a:rPr lang="en-US" sz="1100" dirty="0">
                <a:effectLst/>
                <a:latin typeface="Times New Roman" panose="02020603050405020304" pitchFamily="18" charset="0"/>
                <a:ea typeface="Times New Roman" panose="02020603050405020304" pitchFamily="18" charset="0"/>
              </a:rPr>
              <a:t>.</a:t>
            </a:r>
            <a:endParaRPr lang="en-IN" sz="1100" dirty="0">
              <a:effectLst/>
              <a:latin typeface="Times New Roman" panose="02020603050405020304" pitchFamily="18" charset="0"/>
              <a:ea typeface="Times New Roman" panose="02020603050405020304" pitchFamily="18" charset="0"/>
            </a:endParaRPr>
          </a:p>
          <a:p>
            <a:pPr>
              <a:spcBef>
                <a:spcPts val="25"/>
              </a:spcBef>
            </a:pPr>
            <a:r>
              <a:rPr lang="en-US" sz="2000" dirty="0">
                <a:effectLst/>
                <a:latin typeface="Times New Roman" panose="02020603050405020304" pitchFamily="18" charset="0"/>
                <a:ea typeface="Times New Roman" panose="02020603050405020304" pitchFamily="18" charset="0"/>
              </a:rPr>
              <a:t> </a:t>
            </a:r>
            <a:endParaRPr lang="en-IN" sz="1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2883787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9A95CC6-9F23-759D-856B-7F7266266CBA}"/>
              </a:ext>
            </a:extLst>
          </p:cNvPr>
          <p:cNvSpPr txBox="1"/>
          <p:nvPr/>
        </p:nvSpPr>
        <p:spPr>
          <a:xfrm>
            <a:off x="681788" y="562594"/>
            <a:ext cx="10138611" cy="1998111"/>
          </a:xfrm>
          <a:prstGeom prst="rect">
            <a:avLst/>
          </a:prstGeom>
          <a:noFill/>
        </p:spPr>
        <p:txBody>
          <a:bodyPr wrap="square">
            <a:spAutoFit/>
          </a:bodyPr>
          <a:lstStyle/>
          <a:p>
            <a:pPr marL="768350" marR="659130" algn="just">
              <a:lnSpc>
                <a:spcPct val="150000"/>
              </a:lnSpc>
              <a:spcAft>
                <a:spcPts val="0"/>
              </a:spcAft>
            </a:pPr>
            <a:r>
              <a:rPr lang="en-US" sz="1200" dirty="0">
                <a:effectLst/>
                <a:latin typeface="Times New Roman" panose="02020603050405020304" pitchFamily="18" charset="0"/>
                <a:ea typeface="Times New Roman" panose="02020603050405020304" pitchFamily="18" charset="0"/>
              </a:rPr>
              <a:t>Segway is an electric scooter of future technology; it is often used to transport a user across mid-</a:t>
            </a:r>
            <a:r>
              <a:rPr lang="en-US" sz="1200" spc="-28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range</a:t>
            </a:r>
            <a:r>
              <a:rPr lang="en-US" sz="1200" spc="-4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distances</a:t>
            </a:r>
            <a:r>
              <a:rPr lang="en-US" sz="1200" spc="-3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in</a:t>
            </a:r>
            <a:r>
              <a:rPr lang="en-US" sz="1200" spc="-3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city-based</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(surrounding</a:t>
            </a:r>
            <a:r>
              <a:rPr lang="en-US" sz="1200" spc="-3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conditions).</a:t>
            </a:r>
            <a:r>
              <a:rPr lang="en-US" sz="1200" spc="-3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It</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has</a:t>
            </a:r>
            <a:r>
              <a:rPr lang="en-US" sz="1200" spc="-3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more</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degrees</a:t>
            </a:r>
            <a:r>
              <a:rPr lang="en-US" sz="1200" spc="-3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of</a:t>
            </a:r>
            <a:r>
              <a:rPr lang="en-US" sz="1200" spc="-3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freedom</a:t>
            </a:r>
            <a:r>
              <a:rPr lang="en-US" sz="1200" spc="-4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than</a:t>
            </a:r>
            <a:r>
              <a:rPr lang="en-US" sz="1200" spc="-3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car</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or</a:t>
            </a:r>
            <a:r>
              <a:rPr lang="en-US" sz="1200" spc="-29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bike and is faster than (walking person/related to people on foot). They are (producing more with</a:t>
            </a:r>
            <a:r>
              <a:rPr lang="en-US" sz="1200" spc="-29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less waste) than fuel powered vehicles for shorter distance and time of travelling. An electrical</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vehicle</a:t>
            </a:r>
            <a:r>
              <a:rPr lang="en-US" sz="1200" spc="-4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such</a:t>
            </a:r>
            <a:r>
              <a:rPr lang="en-US" sz="1200" spc="-3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as</a:t>
            </a:r>
            <a:r>
              <a:rPr lang="en-US" sz="1200" spc="-3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Segway,</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if</a:t>
            </a:r>
            <a:r>
              <a:rPr lang="en-US" sz="1200" spc="-3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widely</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used</a:t>
            </a:r>
            <a:r>
              <a:rPr lang="en-US" sz="1200" spc="-3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in</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the</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(community</a:t>
            </a:r>
            <a:r>
              <a:rPr lang="en-US" sz="1200" spc="-3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of</a:t>
            </a:r>
            <a:r>
              <a:rPr lang="en-US" sz="1200" spc="-3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people/all</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good</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people</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in</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the</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world)</a:t>
            </a:r>
            <a:r>
              <a:rPr lang="en-US" sz="1200" spc="-28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would</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give</a:t>
            </a:r>
            <a:r>
              <a:rPr lang="en-US" sz="1200" spc="-2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a</a:t>
            </a:r>
            <a:r>
              <a:rPr lang="en-US" sz="1200" spc="-2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helping</a:t>
            </a:r>
            <a:r>
              <a:rPr lang="en-US" sz="1200" spc="-1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hand</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in</a:t>
            </a:r>
            <a:r>
              <a:rPr lang="en-US" sz="1200" spc="-1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reducing</a:t>
            </a:r>
            <a:r>
              <a:rPr lang="en-US" sz="1200" spc="-1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pollutions</a:t>
            </a:r>
            <a:r>
              <a:rPr lang="en-US" sz="1200" spc="-1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caused</a:t>
            </a:r>
            <a:r>
              <a:rPr lang="en-US" sz="1200" spc="-1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by</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two</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wheelers.</a:t>
            </a:r>
            <a:r>
              <a:rPr lang="en-US" sz="1200" spc="-1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It</a:t>
            </a:r>
            <a:r>
              <a:rPr lang="en-US" sz="1200" spc="-2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would</a:t>
            </a:r>
            <a:r>
              <a:rPr lang="en-US" sz="1200" spc="-1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save</a:t>
            </a:r>
            <a:r>
              <a:rPr lang="en-US" sz="1200" spc="-2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time</a:t>
            </a:r>
            <a:r>
              <a:rPr lang="en-US" sz="1200" spc="-2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and</a:t>
            </a:r>
            <a:r>
              <a:rPr lang="en-US" sz="1200" spc="-29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efforts</a:t>
            </a:r>
            <a:r>
              <a:rPr lang="en-US" sz="1200" spc="3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in</a:t>
            </a:r>
            <a:r>
              <a:rPr lang="en-US" sz="1200" spc="3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travelling</a:t>
            </a:r>
            <a:r>
              <a:rPr lang="en-US" sz="1200" spc="3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short</a:t>
            </a:r>
            <a:r>
              <a:rPr lang="en-US" sz="1200" spc="2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distances</a:t>
            </a:r>
            <a:r>
              <a:rPr lang="en-US" sz="1200" spc="3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on</a:t>
            </a:r>
            <a:r>
              <a:rPr lang="en-US" sz="1200" spc="3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barefoot</a:t>
            </a:r>
            <a:r>
              <a:rPr lang="en-US" sz="1200" spc="2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for</a:t>
            </a:r>
            <a:r>
              <a:rPr lang="en-US" sz="1200" spc="3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ages</a:t>
            </a:r>
            <a:r>
              <a:rPr lang="en-US" sz="1200" spc="3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of</a:t>
            </a:r>
            <a:r>
              <a:rPr lang="en-US" sz="1200" spc="3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people.</a:t>
            </a:r>
            <a:r>
              <a:rPr lang="en-US" sz="1200" spc="3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This</a:t>
            </a:r>
            <a:r>
              <a:rPr lang="en-US" sz="1200" spc="3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project</a:t>
            </a:r>
            <a:r>
              <a:rPr lang="en-US" sz="1200" spc="2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is</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a</a:t>
            </a:r>
            <a:r>
              <a:rPr lang="en-US" sz="1200" spc="2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step</a:t>
            </a:r>
            <a:r>
              <a:rPr lang="en-US" sz="1200" spc="3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towards design, development and programming</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of an</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electric powered</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vehicle using</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simpler</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set of</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computer</a:t>
            </a:r>
            <a:r>
              <a:rPr lang="en-US" sz="1200" spc="-2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instructions</a:t>
            </a:r>
            <a:r>
              <a:rPr lang="en-US" sz="1200" spc="-1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of</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control</a:t>
            </a:r>
            <a:r>
              <a:rPr lang="en-US" sz="1200" spc="-3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over</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motors</a:t>
            </a:r>
            <a:r>
              <a:rPr lang="en-US" sz="1200" spc="-1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via</a:t>
            </a:r>
            <a:r>
              <a:rPr lang="en-US" sz="1200" spc="-2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open</a:t>
            </a:r>
            <a:r>
              <a:rPr lang="en-US" sz="1200" spc="-2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source</a:t>
            </a:r>
            <a:r>
              <a:rPr lang="en-US" sz="1200" spc="-2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board.</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Sensors</a:t>
            </a:r>
            <a:r>
              <a:rPr lang="en-US" sz="1200" spc="-3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and</a:t>
            </a:r>
            <a:r>
              <a:rPr lang="en-US" sz="1200" spc="-2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microcontroller.</a:t>
            </a:r>
            <a:r>
              <a:rPr lang="en-US" sz="1200" spc="-285" dirty="0">
                <a:effectLst/>
                <a:latin typeface="Times New Roman" panose="02020603050405020304" pitchFamily="18" charset="0"/>
                <a:ea typeface="Times New Roman" panose="02020603050405020304" pitchFamily="18" charset="0"/>
              </a:rPr>
              <a:t> </a:t>
            </a:r>
            <a:endParaRPr lang="en-IN" sz="1200"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90815D26-E1B0-A82B-6197-74622E396B5D}"/>
              </a:ext>
            </a:extLst>
          </p:cNvPr>
          <p:cNvSpPr txBox="1"/>
          <p:nvPr/>
        </p:nvSpPr>
        <p:spPr>
          <a:xfrm>
            <a:off x="1419726" y="2917573"/>
            <a:ext cx="8638674" cy="3386761"/>
          </a:xfrm>
          <a:prstGeom prst="rect">
            <a:avLst/>
          </a:prstGeom>
          <a:noFill/>
        </p:spPr>
        <p:txBody>
          <a:bodyPr wrap="square">
            <a:spAutoFit/>
          </a:bodyPr>
          <a:lstStyle/>
          <a:p>
            <a:pPr>
              <a:lnSpc>
                <a:spcPct val="150000"/>
              </a:lnSpc>
            </a:pPr>
            <a:r>
              <a:rPr lang="en-US" sz="1200" dirty="0">
                <a:effectLst/>
                <a:latin typeface="Times New Roman" panose="02020603050405020304" pitchFamily="18" charset="0"/>
                <a:ea typeface="Times New Roman" panose="02020603050405020304" pitchFamily="18" charset="0"/>
              </a:rPr>
              <a:t>3. It also aims for study and analysis of (firm and steady nature/lasting nature/strength) of an electrical vehicle made using open source software and hardware. The current transportation city- based ability to move around model has negative impression on the (community of people/all good people in the world) such as sicknesses due to air pollution, road (sudden unplanned bad events/crashes), climate warming, crowding and blockage and dependence on fuel sources available which are limited. A guessed (a number) three million people in the world die every year because of sicknesses caused due to pollution. Children are the main victims of sicknesses related to pollution. Forty percent of sicknesses caused by (the health of the Earth/the surrounding conditions) affect children under five, whereas these children make up only 10% of the world’s population. According to the World Health Organization 40% of the planets pollution (that heats</a:t>
            </a:r>
            <a:r>
              <a:rPr lang="en-US" sz="1200" spc="-28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up</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the</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Earth)</a:t>
            </a:r>
            <a:r>
              <a:rPr lang="en-US" sz="1200" spc="-1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(things</a:t>
            </a:r>
            <a:r>
              <a:rPr lang="en-US" sz="1200" spc="-2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sent</a:t>
            </a:r>
            <a:r>
              <a:rPr lang="en-US" sz="1200" spc="-4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out</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or</a:t>
            </a:r>
            <a:r>
              <a:rPr lang="en-US" sz="1200" spc="-1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given</a:t>
            </a:r>
            <a:r>
              <a:rPr lang="en-US" sz="1200" spc="-1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off)</a:t>
            </a:r>
            <a:r>
              <a:rPr lang="en-US" sz="1200" spc="-3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was</a:t>
            </a:r>
            <a:r>
              <a:rPr lang="en-US" sz="1200" spc="-3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due</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to</a:t>
            </a:r>
            <a:r>
              <a:rPr lang="en-US" sz="1200" spc="-3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car</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in</a:t>
            </a:r>
            <a:r>
              <a:rPr lang="en-US" sz="1200" spc="-1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the</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year</a:t>
            </a:r>
            <a:r>
              <a:rPr lang="en-US" sz="1200" spc="-3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2010.Between</a:t>
            </a:r>
            <a:r>
              <a:rPr lang="en-US" sz="1200" spc="-1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the</a:t>
            </a:r>
            <a:r>
              <a:rPr lang="en-US" sz="1200" spc="-2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year</a:t>
            </a:r>
            <a:r>
              <a:rPr lang="en-US" sz="1200" spc="-1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1950</a:t>
            </a:r>
            <a:r>
              <a:rPr lang="en-US" sz="1200" spc="-29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to 1990, the number of motor vehicles in the world had multiplied to nine times, (in other words)</a:t>
            </a:r>
            <a:r>
              <a:rPr lang="en-US" sz="1200" spc="-28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increase from 75 million to 675 million. According to the most conservative projections of the</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Organization</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for</a:t>
            </a:r>
            <a:r>
              <a:rPr lang="en-US" sz="1200" spc="-3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Money-based</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Co-operation</a:t>
            </a:r>
            <a:r>
              <a:rPr lang="en-US" sz="1200" spc="-2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and</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Development,</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there</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will</a:t>
            </a:r>
            <a:r>
              <a:rPr lang="en-US" sz="1200" spc="-2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be</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1.62</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billion</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vehicles</a:t>
            </a:r>
            <a:r>
              <a:rPr lang="en-US" sz="1200" spc="-29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in 2030. In a dislike (because of mistreatment) search the number of vehicles in Jaipur. India has</a:t>
            </a:r>
            <a:r>
              <a:rPr lang="en-US" sz="1200" spc="-28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increased much/a lot in the past five years, resulting in increase in pollution too. </a:t>
            </a:r>
            <a:endParaRPr lang="en-IN" sz="1200" dirty="0"/>
          </a:p>
        </p:txBody>
      </p:sp>
    </p:spTree>
    <p:extLst>
      <p:ext uri="{BB962C8B-B14F-4D97-AF65-F5344CB8AC3E}">
        <p14:creationId xmlns:p14="http://schemas.microsoft.com/office/powerpoint/2010/main" val="8105342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A8392D6-A9E6-2512-966B-D37E85CCA8F4}"/>
              </a:ext>
            </a:extLst>
          </p:cNvPr>
          <p:cNvSpPr txBox="1"/>
          <p:nvPr/>
        </p:nvSpPr>
        <p:spPr>
          <a:xfrm>
            <a:off x="994610" y="602721"/>
            <a:ext cx="10146631" cy="646331"/>
          </a:xfrm>
          <a:prstGeom prst="rect">
            <a:avLst/>
          </a:prstGeom>
          <a:noFill/>
        </p:spPr>
        <p:txBody>
          <a:bodyPr wrap="square">
            <a:spAutoFit/>
          </a:bodyPr>
          <a:lstStyle/>
          <a:p>
            <a:r>
              <a:rPr lang="en-US" sz="1200" dirty="0">
                <a:effectLst/>
                <a:latin typeface="Times New Roman" panose="02020603050405020304" pitchFamily="18" charset="0"/>
                <a:ea typeface="Times New Roman" panose="02020603050405020304" pitchFamily="18" charset="0"/>
              </a:rPr>
              <a:t>According to</a:t>
            </a:r>
            <a:r>
              <a:rPr lang="en-US" sz="1200" spc="5" dirty="0">
                <a:effectLst/>
                <a:latin typeface="Times New Roman" panose="02020603050405020304" pitchFamily="18" charset="0"/>
                <a:ea typeface="Times New Roman" panose="02020603050405020304" pitchFamily="18" charset="0"/>
              </a:rPr>
              <a:t> </a:t>
            </a:r>
            <a:r>
              <a:rPr lang="en-US" sz="1200" spc="-5" dirty="0">
                <a:effectLst/>
                <a:latin typeface="Times New Roman" panose="02020603050405020304" pitchFamily="18" charset="0"/>
                <a:ea typeface="Times New Roman" panose="02020603050405020304" pitchFamily="18" charset="0"/>
              </a:rPr>
              <a:t>(related</a:t>
            </a:r>
            <a:r>
              <a:rPr lang="en-US" sz="1200" spc="-80" dirty="0">
                <a:effectLst/>
                <a:latin typeface="Times New Roman" panose="02020603050405020304" pitchFamily="18" charset="0"/>
                <a:ea typeface="Times New Roman" panose="02020603050405020304" pitchFamily="18" charset="0"/>
              </a:rPr>
              <a:t> </a:t>
            </a:r>
            <a:r>
              <a:rPr lang="en-US" sz="1200" spc="-5" dirty="0">
                <a:effectLst/>
                <a:latin typeface="Times New Roman" panose="02020603050405020304" pitchFamily="18" charset="0"/>
                <a:ea typeface="Times New Roman" panose="02020603050405020304" pitchFamily="18" charset="0"/>
              </a:rPr>
              <a:t>to</a:t>
            </a:r>
            <a:r>
              <a:rPr lang="en-US" sz="1200" spc="-80" dirty="0">
                <a:effectLst/>
                <a:latin typeface="Times New Roman" panose="02020603050405020304" pitchFamily="18" charset="0"/>
                <a:ea typeface="Times New Roman" panose="02020603050405020304" pitchFamily="18" charset="0"/>
              </a:rPr>
              <a:t> </a:t>
            </a:r>
            <a:r>
              <a:rPr lang="en-US" sz="1200" spc="-5" dirty="0">
                <a:effectLst/>
                <a:latin typeface="Times New Roman" panose="02020603050405020304" pitchFamily="18" charset="0"/>
                <a:ea typeface="Times New Roman" panose="02020603050405020304" pitchFamily="18" charset="0"/>
              </a:rPr>
              <a:t>a</a:t>
            </a:r>
            <a:r>
              <a:rPr lang="en-US" sz="1200" spc="-55" dirty="0">
                <a:effectLst/>
                <a:latin typeface="Times New Roman" panose="02020603050405020304" pitchFamily="18" charset="0"/>
                <a:ea typeface="Times New Roman" panose="02020603050405020304" pitchFamily="18" charset="0"/>
              </a:rPr>
              <a:t> </a:t>
            </a:r>
            <a:r>
              <a:rPr lang="en-US" sz="1200" spc="-5" dirty="0">
                <a:effectLst/>
                <a:latin typeface="Times New Roman" panose="02020603050405020304" pitchFamily="18" charset="0"/>
                <a:ea typeface="Times New Roman" panose="02020603050405020304" pitchFamily="18" charset="0"/>
              </a:rPr>
              <a:t>large</a:t>
            </a:r>
            <a:r>
              <a:rPr lang="en-US" sz="1200" spc="-60" dirty="0">
                <a:effectLst/>
                <a:latin typeface="Times New Roman" panose="02020603050405020304" pitchFamily="18" charset="0"/>
                <a:ea typeface="Times New Roman" panose="02020603050405020304" pitchFamily="18" charset="0"/>
              </a:rPr>
              <a:t> </a:t>
            </a:r>
            <a:r>
              <a:rPr lang="en-US" sz="1200" spc="-5" dirty="0">
                <a:effectLst/>
                <a:latin typeface="Times New Roman" panose="02020603050405020304" pitchFamily="18" charset="0"/>
                <a:ea typeface="Times New Roman" panose="02020603050405020304" pitchFamily="18" charset="0"/>
              </a:rPr>
              <a:t>area)</a:t>
            </a:r>
            <a:r>
              <a:rPr lang="en-US" sz="1200" spc="-45" dirty="0">
                <a:effectLst/>
                <a:latin typeface="Times New Roman" panose="02020603050405020304" pitchFamily="18" charset="0"/>
                <a:ea typeface="Times New Roman" panose="02020603050405020304" pitchFamily="18" charset="0"/>
              </a:rPr>
              <a:t> </a:t>
            </a:r>
            <a:r>
              <a:rPr lang="en-US" sz="1200" spc="-5" dirty="0">
                <a:effectLst/>
                <a:latin typeface="Times New Roman" panose="02020603050405020304" pitchFamily="18" charset="0"/>
                <a:ea typeface="Times New Roman" panose="02020603050405020304" pitchFamily="18" charset="0"/>
              </a:rPr>
              <a:t>transport</a:t>
            </a:r>
            <a:r>
              <a:rPr lang="en-US" sz="1200" spc="-85" dirty="0">
                <a:effectLst/>
                <a:latin typeface="Times New Roman" panose="02020603050405020304" pitchFamily="18" charset="0"/>
                <a:ea typeface="Times New Roman" panose="02020603050405020304" pitchFamily="18" charset="0"/>
              </a:rPr>
              <a:t> </a:t>
            </a:r>
            <a:r>
              <a:rPr lang="en-US" sz="1200" spc="-5" dirty="0">
                <a:effectLst/>
                <a:latin typeface="Times New Roman" panose="02020603050405020304" pitchFamily="18" charset="0"/>
                <a:ea typeface="Times New Roman" panose="02020603050405020304" pitchFamily="18" charset="0"/>
              </a:rPr>
              <a:t>office,</a:t>
            </a:r>
            <a:r>
              <a:rPr lang="en-US" sz="1200" spc="-7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every</a:t>
            </a:r>
            <a:r>
              <a:rPr lang="en-US" sz="1200" spc="-7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day</a:t>
            </a:r>
            <a:r>
              <a:rPr lang="en-US" sz="1200" spc="-7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500</a:t>
            </a:r>
            <a:r>
              <a:rPr lang="en-US" sz="1200" spc="-5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new</a:t>
            </a:r>
            <a:r>
              <a:rPr lang="en-US" sz="1200" spc="-6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non-commercial</a:t>
            </a:r>
            <a:r>
              <a:rPr lang="en-US" sz="1200" spc="-8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vehicles</a:t>
            </a:r>
            <a:r>
              <a:rPr lang="en-US" sz="1200" spc="-6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get</a:t>
            </a:r>
            <a:r>
              <a:rPr lang="en-US" sz="1200" spc="-8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registered</a:t>
            </a:r>
            <a:r>
              <a:rPr lang="en-US" sz="1200" spc="-29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including two wheelers and four wheelers. In the (not very long ago) press released of the WHO</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report on pollution in India, the present situation of the city is not so encouraging when pollution</a:t>
            </a:r>
            <a:r>
              <a:rPr lang="en-US" sz="1200" spc="-28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in</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the</a:t>
            </a:r>
            <a:r>
              <a:rPr lang="en-US" sz="1200" spc="-1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air comes</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to picture.</a:t>
            </a:r>
            <a:endParaRPr lang="en-IN" sz="1200" dirty="0"/>
          </a:p>
        </p:txBody>
      </p:sp>
      <p:sp>
        <p:nvSpPr>
          <p:cNvPr id="5" name="TextBox 4">
            <a:extLst>
              <a:ext uri="{FF2B5EF4-FFF2-40B4-BE49-F238E27FC236}">
                <a16:creationId xmlns:a16="http://schemas.microsoft.com/office/drawing/2014/main" id="{AA7FA06D-B18F-C891-C894-A4B893B93303}"/>
              </a:ext>
            </a:extLst>
          </p:cNvPr>
          <p:cNvSpPr txBox="1"/>
          <p:nvPr/>
        </p:nvSpPr>
        <p:spPr>
          <a:xfrm>
            <a:off x="922421" y="1697867"/>
            <a:ext cx="10042358" cy="3663760"/>
          </a:xfrm>
          <a:prstGeom prst="rect">
            <a:avLst/>
          </a:prstGeom>
          <a:noFill/>
        </p:spPr>
        <p:txBody>
          <a:bodyPr wrap="square">
            <a:spAutoFit/>
          </a:bodyPr>
          <a:lstStyle/>
          <a:p>
            <a:pPr>
              <a:lnSpc>
                <a:spcPct val="150000"/>
              </a:lnSpc>
            </a:pPr>
            <a:r>
              <a:rPr lang="en-US" sz="1200" dirty="0">
                <a:effectLst/>
                <a:latin typeface="Times New Roman" panose="02020603050405020304" pitchFamily="18" charset="0"/>
                <a:ea typeface="Times New Roman" panose="02020603050405020304" pitchFamily="18" charset="0"/>
              </a:rPr>
              <a:t>4. Hover board is a self-balancing personal transporter consisting of two motorized wheels with a</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typical gyroscopic- (made steady/made firm and strong) system. (Things sent out or given off)</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from</a:t>
            </a:r>
            <a:r>
              <a:rPr lang="en-US" sz="1200" spc="-4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(burning</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something</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inside)</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vehicles</a:t>
            </a:r>
            <a:r>
              <a:rPr lang="en-US" sz="1200" spc="-3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are</a:t>
            </a:r>
            <a:r>
              <a:rPr lang="en-US" sz="1200" spc="-4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on</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the</a:t>
            </a:r>
            <a:r>
              <a:rPr lang="en-US" sz="1200" spc="-4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rise</a:t>
            </a:r>
            <a:r>
              <a:rPr lang="en-US" sz="1200" spc="-4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every</a:t>
            </a:r>
            <a:r>
              <a:rPr lang="en-US" sz="1200" spc="-3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day.</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City-based</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cars</a:t>
            </a:r>
            <a:r>
              <a:rPr lang="en-US" sz="1200" spc="-3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and</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trucks</a:t>
            </a:r>
            <a:r>
              <a:rPr lang="en-US" sz="1200" spc="-3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has</a:t>
            </a:r>
            <a:r>
              <a:rPr lang="en-US" sz="1200" spc="-28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increased hugely over the years. Traffic jam leads to higher vehicle (things sent out or given off)</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and lower (existing all around you/quiet and relaxing) air quality. There can be no immediate</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solution to this issue, but another solution for ordinary personal transport is Hover board. So the</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hover</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boards</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are</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becoming</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more</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popular</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day</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by</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day.</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But</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the</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complex</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electronics</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like</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acceleration-measuring device and gyroscope make it too expensive. This project involves the</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design, analysis, and lie/construction of an electric three-wheeled hovercraft. The system moves</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back and forward using the DPDT switch. A small wheel is used to balance the vehicle such that</a:t>
            </a:r>
            <a:r>
              <a:rPr lang="en-US" sz="1200" spc="-28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a gyroscope is not needed for balancing purposes. This project work aims to build a low-cost and</a:t>
            </a:r>
            <a:r>
              <a:rPr lang="en-US" sz="1200" spc="-28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(producing a lot with very little waste) Hover board. Keywords--self-balancing, DPDT Switch,</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low.</a:t>
            </a:r>
            <a:r>
              <a:rPr lang="en-US" sz="1200" spc="-4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Air</a:t>
            </a:r>
            <a:r>
              <a:rPr lang="en-US" sz="1200" spc="-4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pollution</a:t>
            </a:r>
            <a:r>
              <a:rPr lang="en-US" sz="1200" spc="-4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is</a:t>
            </a:r>
            <a:r>
              <a:rPr lang="en-US" sz="1200" spc="-3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a</a:t>
            </a:r>
            <a:r>
              <a:rPr lang="en-US" sz="1200" spc="-5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major</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(related</a:t>
            </a:r>
            <a:r>
              <a:rPr lang="en-US" sz="1200" spc="-4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to</a:t>
            </a:r>
            <a:r>
              <a:rPr lang="en-US" sz="1200" spc="-4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surrounding</a:t>
            </a:r>
            <a:r>
              <a:rPr lang="en-US" sz="1200" spc="-4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conditions</a:t>
            </a:r>
            <a:r>
              <a:rPr lang="en-US" sz="1200" spc="-3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or</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the</a:t>
            </a:r>
            <a:r>
              <a:rPr lang="en-US" sz="1200" spc="-5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health</a:t>
            </a:r>
            <a:r>
              <a:rPr lang="en-US" sz="1200" spc="-4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of</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the</a:t>
            </a:r>
            <a:r>
              <a:rPr lang="en-US" sz="1200" spc="-5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Earth)</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problem</a:t>
            </a:r>
            <a:r>
              <a:rPr lang="en-US" sz="1200" spc="-29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in cities where most people are exposed to poor air quality. Fast (growth of cities with more</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people) in India has led to significant growth in the number of ICE vehicles. As vehicle traffic</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continues to grow and crowding and blockage increases, vehicles have become the first (or most</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important) source of air pollution in city-based India. The country has taken (more than two, but</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not a lot of) measures to improve its quality in cities. These include improving fuel quality,</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drafting</a:t>
            </a:r>
            <a:r>
              <a:rPr lang="en-US" sz="1200" spc="-5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the</a:t>
            </a:r>
            <a:r>
              <a:rPr lang="en-US" sz="1200" spc="-5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necessary</a:t>
            </a:r>
            <a:r>
              <a:rPr lang="en-US" sz="1200" spc="-5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laws</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(and</a:t>
            </a:r>
            <a:r>
              <a:rPr lang="en-US" sz="1200" spc="-5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law</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making)</a:t>
            </a:r>
            <a:r>
              <a:rPr lang="en-US" sz="1200" spc="-4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and</a:t>
            </a:r>
            <a:r>
              <a:rPr lang="en-US" sz="1200" spc="-5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applying</a:t>
            </a:r>
            <a:r>
              <a:rPr lang="en-US" sz="1200" spc="-5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vehicle</a:t>
            </a:r>
            <a:r>
              <a:rPr lang="en-US" sz="1200" spc="-5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emission</a:t>
            </a:r>
            <a:r>
              <a:rPr lang="en-US" sz="1200" spc="-5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standards,</a:t>
            </a:r>
            <a:r>
              <a:rPr lang="en-US" sz="1200" spc="-5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improving</a:t>
            </a:r>
            <a:r>
              <a:rPr lang="en-US" sz="1200" spc="-29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traffic planning and management, etc. Shortage of (coal, natural gas, oil, etc.) and the (act of</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something</a:t>
            </a:r>
            <a:r>
              <a:rPr lang="en-US" sz="1200" spc="-5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getting</a:t>
            </a:r>
            <a:r>
              <a:rPr lang="en-US" sz="1200" spc="-4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bigger,</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wider,</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etc.)</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of</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pollution</a:t>
            </a:r>
            <a:r>
              <a:rPr lang="en-US" sz="1200" spc="-4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and</a:t>
            </a:r>
            <a:r>
              <a:rPr lang="en-US" sz="1200" spc="-4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fuel</a:t>
            </a:r>
            <a:r>
              <a:rPr lang="en-US" sz="1200" spc="-5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rate</a:t>
            </a:r>
            <a:r>
              <a:rPr lang="en-US" sz="1200" spc="-5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makes</a:t>
            </a:r>
            <a:r>
              <a:rPr lang="en-US" sz="1200" spc="-3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electric</a:t>
            </a:r>
            <a:r>
              <a:rPr lang="en-US" sz="1200" spc="-5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vehicles</a:t>
            </a:r>
            <a:r>
              <a:rPr lang="en-US" sz="1200" spc="-3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(EV)</a:t>
            </a:r>
            <a:r>
              <a:rPr lang="en-US" sz="1200" spc="-4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more</a:t>
            </a:r>
            <a:r>
              <a:rPr lang="en-US" sz="1200" spc="-29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popular</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on transportation.</a:t>
            </a:r>
            <a:r>
              <a:rPr lang="en-US" sz="1200" spc="5" dirty="0">
                <a:effectLst/>
                <a:latin typeface="Times New Roman" panose="02020603050405020304" pitchFamily="18" charset="0"/>
                <a:ea typeface="Times New Roman" panose="02020603050405020304" pitchFamily="18" charset="0"/>
              </a:rPr>
              <a:t> </a:t>
            </a:r>
            <a:endParaRPr lang="en-IN" sz="1200" dirty="0"/>
          </a:p>
        </p:txBody>
      </p:sp>
    </p:spTree>
    <p:extLst>
      <p:ext uri="{BB962C8B-B14F-4D97-AF65-F5344CB8AC3E}">
        <p14:creationId xmlns:p14="http://schemas.microsoft.com/office/powerpoint/2010/main" val="40676975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0BEF7CD-9095-52C6-AA39-8CDB62D142B8}"/>
              </a:ext>
            </a:extLst>
          </p:cNvPr>
          <p:cNvSpPr txBox="1"/>
          <p:nvPr/>
        </p:nvSpPr>
        <p:spPr>
          <a:xfrm>
            <a:off x="1018673" y="1717647"/>
            <a:ext cx="9978189" cy="3000821"/>
          </a:xfrm>
          <a:prstGeom prst="rect">
            <a:avLst/>
          </a:prstGeom>
          <a:noFill/>
        </p:spPr>
        <p:txBody>
          <a:bodyPr wrap="square">
            <a:spAutoFit/>
          </a:bodyPr>
          <a:lstStyle/>
          <a:p>
            <a:pPr>
              <a:lnSpc>
                <a:spcPct val="150000"/>
              </a:lnSpc>
            </a:pPr>
            <a:r>
              <a:rPr lang="en-US" sz="1200" dirty="0">
                <a:effectLst/>
                <a:latin typeface="Times New Roman" panose="02020603050405020304" pitchFamily="18" charset="0"/>
                <a:ea typeface="Times New Roman" panose="02020603050405020304" pitchFamily="18" charset="0"/>
              </a:rPr>
              <a:t>5</a:t>
            </a:r>
            <a:r>
              <a:rPr lang="en-US" sz="180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In this study, the method and methods used to design and construct an electric hover board are</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discussed. A hover board is a self-balancing mobile transporter with two powered wheels and a</a:t>
            </a:r>
            <a:r>
              <a:rPr lang="en-US" sz="1200" spc="5" dirty="0">
                <a:effectLst/>
                <a:latin typeface="Times New Roman" panose="02020603050405020304" pitchFamily="18" charset="0"/>
                <a:ea typeface="Times New Roman" panose="02020603050405020304" pitchFamily="18" charset="0"/>
              </a:rPr>
              <a:t> </a:t>
            </a:r>
            <a:r>
              <a:rPr lang="en-US" sz="1200" spc="-5" dirty="0">
                <a:effectLst/>
                <a:latin typeface="Times New Roman" panose="02020603050405020304" pitchFamily="18" charset="0"/>
                <a:ea typeface="Times New Roman" panose="02020603050405020304" pitchFamily="18" charset="0"/>
              </a:rPr>
              <a:t>gyroscopic</a:t>
            </a:r>
            <a:r>
              <a:rPr lang="en-US" sz="1200" spc="-80" dirty="0">
                <a:effectLst/>
                <a:latin typeface="Times New Roman" panose="02020603050405020304" pitchFamily="18" charset="0"/>
                <a:ea typeface="Times New Roman" panose="02020603050405020304" pitchFamily="18" charset="0"/>
              </a:rPr>
              <a:t> </a:t>
            </a:r>
            <a:r>
              <a:rPr lang="en-US" sz="1200" spc="-5" dirty="0">
                <a:effectLst/>
                <a:latin typeface="Times New Roman" panose="02020603050405020304" pitchFamily="18" charset="0"/>
                <a:ea typeface="Times New Roman" panose="02020603050405020304" pitchFamily="18" charset="0"/>
              </a:rPr>
              <a:t>stabilizing</a:t>
            </a:r>
            <a:r>
              <a:rPr lang="en-US" sz="1200" spc="-75" dirty="0">
                <a:effectLst/>
                <a:latin typeface="Times New Roman" panose="02020603050405020304" pitchFamily="18" charset="0"/>
                <a:ea typeface="Times New Roman" panose="02020603050405020304" pitchFamily="18" charset="0"/>
              </a:rPr>
              <a:t> </a:t>
            </a:r>
            <a:r>
              <a:rPr lang="en-US" sz="1200" spc="-5" dirty="0">
                <a:effectLst/>
                <a:latin typeface="Times New Roman" panose="02020603050405020304" pitchFamily="18" charset="0"/>
                <a:ea typeface="Times New Roman" panose="02020603050405020304" pitchFamily="18" charset="0"/>
              </a:rPr>
              <a:t>(machine/method/way).</a:t>
            </a:r>
            <a:r>
              <a:rPr lang="en-US" sz="1200" spc="-4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(Burning</a:t>
            </a:r>
            <a:r>
              <a:rPr lang="en-US" sz="1200" spc="-7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something</a:t>
            </a:r>
            <a:r>
              <a:rPr lang="en-US" sz="1200" spc="-5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inside)</a:t>
            </a:r>
            <a:r>
              <a:rPr lang="en-US" sz="1200" spc="-4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vehicle</a:t>
            </a:r>
            <a:r>
              <a:rPr lang="en-US" sz="1200" spc="-8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(things</a:t>
            </a:r>
            <a:r>
              <a:rPr lang="en-US" sz="1200" spc="-6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sent</a:t>
            </a:r>
            <a:r>
              <a:rPr lang="en-US" sz="1200" spc="-5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out</a:t>
            </a:r>
            <a:r>
              <a:rPr lang="en-US" sz="1200" spc="-29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or given off) are increasing every day. The amount of traffic in cities has increased very much</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over</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time.</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Traffic</a:t>
            </a:r>
            <a:r>
              <a:rPr lang="en-US" sz="1200" spc="-2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jam</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results</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in</a:t>
            </a:r>
            <a:r>
              <a:rPr lang="en-US" sz="1200" spc="-2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increased</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car</a:t>
            </a:r>
            <a:r>
              <a:rPr lang="en-US" sz="1200" spc="-1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(things</a:t>
            </a:r>
            <a:r>
              <a:rPr lang="en-US" sz="1200" spc="-3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sent</a:t>
            </a:r>
            <a:r>
              <a:rPr lang="en-US" sz="1200" spc="-4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out</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or</a:t>
            </a:r>
            <a:r>
              <a:rPr lang="en-US" sz="1200" spc="-3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given</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off)</a:t>
            </a:r>
            <a:r>
              <a:rPr lang="en-US" sz="1200" spc="-3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and</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poorer</a:t>
            </a:r>
            <a:r>
              <a:rPr lang="en-US" sz="1200" spc="-1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air</a:t>
            </a:r>
            <a:r>
              <a:rPr lang="en-US" sz="1200" spc="-3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quality.</a:t>
            </a:r>
            <a:r>
              <a:rPr lang="en-US" sz="1200" spc="-29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Although there</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is no quick</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answer to</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this problem, another option for</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traditional personal</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transportation</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is the</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hover</a:t>
            </a:r>
            <a:r>
              <a:rPr lang="en-US" sz="1200" spc="-3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board.</a:t>
            </a:r>
            <a:r>
              <a:rPr lang="en-US" sz="1200" spc="-3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The main idea behind a hover board is to produce means of transportation that is in contact with</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the ground. However, the first idea was to build an overboard that does not touch the ground.</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(float/stay</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close)</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board</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will</a:t>
            </a:r>
            <a:r>
              <a:rPr lang="en-US" sz="1200" spc="-2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be</a:t>
            </a:r>
            <a:r>
              <a:rPr lang="en-US" sz="1200" spc="-2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powered</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by</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rechargeable</a:t>
            </a:r>
            <a:r>
              <a:rPr lang="en-US" sz="1200" spc="-2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electrical</a:t>
            </a:r>
            <a:r>
              <a:rPr lang="en-US" sz="1200" spc="-2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storage</a:t>
            </a:r>
            <a:r>
              <a:rPr lang="en-US" sz="1200" spc="-2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devices,</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much</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like</a:t>
            </a:r>
            <a:r>
              <a:rPr lang="en-US" sz="1200" spc="-2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any</a:t>
            </a:r>
            <a:r>
              <a:rPr lang="en-US" sz="1200" spc="-28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other vehicle. And, in most cases, electricity to charge the electrical storage devices is easily</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available.</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The</a:t>
            </a:r>
            <a:r>
              <a:rPr lang="en-US" sz="1200" spc="-2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parts/pieces</a:t>
            </a:r>
            <a:r>
              <a:rPr lang="en-US" sz="1200" spc="-1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necessary,</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how</a:t>
            </a:r>
            <a:r>
              <a:rPr lang="en-US" sz="1200" spc="-1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each</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part</a:t>
            </a:r>
            <a:r>
              <a:rPr lang="en-US" sz="1200" spc="-2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works,</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the</a:t>
            </a:r>
            <a:r>
              <a:rPr lang="en-US" sz="1200" spc="-2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way</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of</a:t>
            </a:r>
            <a:r>
              <a:rPr lang="en-US" sz="1200" spc="-4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doing</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things,</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and</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finally</a:t>
            </a:r>
            <a:r>
              <a:rPr lang="en-US" sz="1200" spc="-1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a</a:t>
            </a:r>
            <a:r>
              <a:rPr lang="en-US" sz="1200" spc="-28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discussion of how the (float/stay close) board would work are all discussed in this paper. An</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end/end</a:t>
            </a:r>
            <a:r>
              <a:rPr lang="en-US" sz="1200" spc="-1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result</a:t>
            </a:r>
            <a:r>
              <a:rPr lang="en-US" sz="1200" spc="-2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is</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given</a:t>
            </a:r>
            <a:r>
              <a:rPr lang="en-US" sz="1200" spc="1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as to</a:t>
            </a:r>
            <a:r>
              <a:rPr lang="en-US" sz="1200" spc="-1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what</a:t>
            </a:r>
            <a:r>
              <a:rPr lang="en-US" sz="1200" spc="-2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we</a:t>
            </a:r>
            <a:r>
              <a:rPr lang="en-US" sz="1200" spc="-2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have</a:t>
            </a:r>
            <a:r>
              <a:rPr lang="en-US" sz="1200" spc="1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completed</a:t>
            </a:r>
            <a:r>
              <a:rPr lang="en-US" sz="1200" spc="1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and</a:t>
            </a:r>
            <a:r>
              <a:rPr lang="en-US" sz="1200" spc="-1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what</a:t>
            </a:r>
            <a:r>
              <a:rPr lang="en-US" sz="1200" spc="-2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more</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can</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be</a:t>
            </a:r>
            <a:r>
              <a:rPr lang="en-US" sz="1200" spc="-2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done</a:t>
            </a:r>
            <a:r>
              <a:rPr lang="en-US" sz="1200" spc="5"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in</a:t>
            </a:r>
            <a:r>
              <a:rPr lang="en-US" sz="1200" spc="-1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this area</a:t>
            </a:r>
            <a:r>
              <a:rPr lang="en-US" sz="1200" spc="5" dirty="0">
                <a:effectLst/>
                <a:latin typeface="Times New Roman" panose="02020603050405020304" pitchFamily="18" charset="0"/>
                <a:ea typeface="Times New Roman" panose="02020603050405020304" pitchFamily="18" charset="0"/>
              </a:rPr>
              <a:t> </a:t>
            </a:r>
            <a:endParaRPr lang="en-IN" sz="1200" dirty="0">
              <a:effectLst/>
              <a:latin typeface="Times New Roman" panose="02020603050405020304" pitchFamily="18" charset="0"/>
              <a:ea typeface="Times New Roman" panose="02020603050405020304" pitchFamily="18" charset="0"/>
            </a:endParaRPr>
          </a:p>
          <a:p>
            <a:endParaRPr lang="en-IN" dirty="0"/>
          </a:p>
        </p:txBody>
      </p:sp>
    </p:spTree>
    <p:extLst>
      <p:ext uri="{BB962C8B-B14F-4D97-AF65-F5344CB8AC3E}">
        <p14:creationId xmlns:p14="http://schemas.microsoft.com/office/powerpoint/2010/main" val="2118775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3666578-D5FC-E2B1-E56F-C466DACE3F7B}"/>
              </a:ext>
            </a:extLst>
          </p:cNvPr>
          <p:cNvSpPr txBox="1"/>
          <p:nvPr/>
        </p:nvSpPr>
        <p:spPr>
          <a:xfrm>
            <a:off x="4419601" y="393032"/>
            <a:ext cx="1949116" cy="400110"/>
          </a:xfrm>
          <a:prstGeom prst="rect">
            <a:avLst/>
          </a:prstGeom>
          <a:noFill/>
        </p:spPr>
        <p:txBody>
          <a:bodyPr wrap="square" rtlCol="0">
            <a:spAutoFit/>
          </a:bodyPr>
          <a:lstStyle/>
          <a:p>
            <a:r>
              <a:rPr lang="en-IN" sz="2000" dirty="0"/>
              <a:t>METHODOLOGY</a:t>
            </a:r>
          </a:p>
        </p:txBody>
      </p:sp>
      <p:sp>
        <p:nvSpPr>
          <p:cNvPr id="22" name="Text Box 1">
            <a:extLst>
              <a:ext uri="{FF2B5EF4-FFF2-40B4-BE49-F238E27FC236}">
                <a16:creationId xmlns:a16="http://schemas.microsoft.com/office/drawing/2014/main" id="{5E8B1B1A-5270-ABE2-29E5-13DEC39C9CC7}"/>
              </a:ext>
            </a:extLst>
          </p:cNvPr>
          <p:cNvSpPr txBox="1"/>
          <p:nvPr/>
        </p:nvSpPr>
        <p:spPr>
          <a:xfrm>
            <a:off x="4377055" y="3148464"/>
            <a:ext cx="1707515" cy="321945"/>
          </a:xfrm>
          <a:prstGeom prst="rect">
            <a:avLst/>
          </a:prstGeom>
          <a:no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r>
              <a:rPr lang="en-IN" sz="1100">
                <a:effectLst/>
                <a:latin typeface="Times New Roman" panose="02020603050405020304" pitchFamily="18" charset="0"/>
                <a:ea typeface="Times New Roman" panose="02020603050405020304" pitchFamily="18" charset="0"/>
              </a:rPr>
              <a:t>L293D MOTOR DRIVER</a:t>
            </a:r>
          </a:p>
        </p:txBody>
      </p:sp>
      <p:sp>
        <p:nvSpPr>
          <p:cNvPr id="23" name="Text Box 2">
            <a:extLst>
              <a:ext uri="{FF2B5EF4-FFF2-40B4-BE49-F238E27FC236}">
                <a16:creationId xmlns:a16="http://schemas.microsoft.com/office/drawing/2014/main" id="{33194969-53BD-A804-1302-4BC1918D07DE}"/>
              </a:ext>
            </a:extLst>
          </p:cNvPr>
          <p:cNvSpPr txBox="1"/>
          <p:nvPr/>
        </p:nvSpPr>
        <p:spPr>
          <a:xfrm>
            <a:off x="4284980" y="3550419"/>
            <a:ext cx="1667510" cy="333375"/>
          </a:xfrm>
          <a:prstGeom prst="rect">
            <a:avLst/>
          </a:prstGeom>
          <a:no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n-IN" sz="1100">
                <a:effectLst/>
                <a:latin typeface="Times New Roman" panose="02020603050405020304" pitchFamily="18" charset="0"/>
                <a:ea typeface="Times New Roman" panose="02020603050405020304" pitchFamily="18" charset="0"/>
              </a:rPr>
              <a:t>ARDUINO UNO</a:t>
            </a:r>
          </a:p>
        </p:txBody>
      </p:sp>
      <p:sp>
        <p:nvSpPr>
          <p:cNvPr id="24" name="Text Box 3">
            <a:extLst>
              <a:ext uri="{FF2B5EF4-FFF2-40B4-BE49-F238E27FC236}">
                <a16:creationId xmlns:a16="http://schemas.microsoft.com/office/drawing/2014/main" id="{FFBD8122-B8E6-A8B0-C336-C4C81E5140CD}"/>
              </a:ext>
            </a:extLst>
          </p:cNvPr>
          <p:cNvSpPr txBox="1"/>
          <p:nvPr/>
        </p:nvSpPr>
        <p:spPr>
          <a:xfrm>
            <a:off x="6872605" y="2688089"/>
            <a:ext cx="1161415" cy="344805"/>
          </a:xfrm>
          <a:prstGeom prst="rect">
            <a:avLst/>
          </a:prstGeom>
          <a:no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r>
              <a:rPr lang="en-IN" sz="900" dirty="0">
                <a:effectLst/>
                <a:latin typeface="Times New Roman" panose="02020603050405020304" pitchFamily="18" charset="0"/>
                <a:ea typeface="Times New Roman" panose="02020603050405020304" pitchFamily="18" charset="0"/>
              </a:rPr>
              <a:t>12V,30RPM,DC GEARED MOTORS</a:t>
            </a:r>
            <a:endParaRPr lang="en-IN" sz="1100" dirty="0">
              <a:effectLst/>
              <a:latin typeface="Times New Roman" panose="02020603050405020304" pitchFamily="18" charset="0"/>
              <a:ea typeface="Times New Roman" panose="02020603050405020304" pitchFamily="18" charset="0"/>
            </a:endParaRPr>
          </a:p>
        </p:txBody>
      </p:sp>
      <p:sp>
        <p:nvSpPr>
          <p:cNvPr id="25" name="Text Box 1">
            <a:extLst>
              <a:ext uri="{FF2B5EF4-FFF2-40B4-BE49-F238E27FC236}">
                <a16:creationId xmlns:a16="http://schemas.microsoft.com/office/drawing/2014/main" id="{2A8565DA-1D6E-DDD3-B1A7-A01CCD01BEB8}"/>
              </a:ext>
            </a:extLst>
          </p:cNvPr>
          <p:cNvSpPr txBox="1"/>
          <p:nvPr/>
        </p:nvSpPr>
        <p:spPr>
          <a:xfrm>
            <a:off x="2526665" y="3638684"/>
            <a:ext cx="1160780" cy="344805"/>
          </a:xfrm>
          <a:prstGeom prst="rect">
            <a:avLst/>
          </a:prstGeom>
          <a:no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r>
              <a:rPr lang="en-US" sz="900" dirty="0">
                <a:effectLst/>
                <a:latin typeface="Times New Roman" panose="02020603050405020304" pitchFamily="18" charset="0"/>
                <a:ea typeface="Times New Roman" panose="02020603050405020304" pitchFamily="18" charset="0"/>
              </a:rPr>
              <a:t>12V,30RPM,DC GEARED MOTORS</a:t>
            </a:r>
            <a:endParaRPr lang="en-IN" sz="1100" dirty="0">
              <a:effectLst/>
              <a:latin typeface="Times New Roman" panose="02020603050405020304" pitchFamily="18" charset="0"/>
              <a:ea typeface="Times New Roman" panose="02020603050405020304" pitchFamily="18" charset="0"/>
            </a:endParaRPr>
          </a:p>
        </p:txBody>
      </p:sp>
      <p:sp>
        <p:nvSpPr>
          <p:cNvPr id="26" name="Text Box 1">
            <a:extLst>
              <a:ext uri="{FF2B5EF4-FFF2-40B4-BE49-F238E27FC236}">
                <a16:creationId xmlns:a16="http://schemas.microsoft.com/office/drawing/2014/main" id="{670FE071-791D-14F8-122F-5F67AB456CA8}"/>
              </a:ext>
            </a:extLst>
          </p:cNvPr>
          <p:cNvSpPr txBox="1"/>
          <p:nvPr/>
        </p:nvSpPr>
        <p:spPr>
          <a:xfrm>
            <a:off x="2509520" y="2744604"/>
            <a:ext cx="1160780" cy="344805"/>
          </a:xfrm>
          <a:prstGeom prst="rect">
            <a:avLst/>
          </a:prstGeom>
          <a:no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r>
              <a:rPr lang="en-US" sz="900" dirty="0">
                <a:effectLst/>
                <a:latin typeface="Times New Roman" panose="02020603050405020304" pitchFamily="18" charset="0"/>
                <a:ea typeface="Times New Roman" panose="02020603050405020304" pitchFamily="18" charset="0"/>
              </a:rPr>
              <a:t>12V,30RPM,DC GEARED MOTORS</a:t>
            </a:r>
            <a:endParaRPr lang="en-IN" sz="1100" dirty="0">
              <a:effectLst/>
              <a:latin typeface="Times New Roman" panose="02020603050405020304" pitchFamily="18" charset="0"/>
              <a:ea typeface="Times New Roman" panose="02020603050405020304" pitchFamily="18" charset="0"/>
            </a:endParaRPr>
          </a:p>
        </p:txBody>
      </p:sp>
      <p:sp>
        <p:nvSpPr>
          <p:cNvPr id="27" name="Text Box 1">
            <a:extLst>
              <a:ext uri="{FF2B5EF4-FFF2-40B4-BE49-F238E27FC236}">
                <a16:creationId xmlns:a16="http://schemas.microsoft.com/office/drawing/2014/main" id="{7A8AC06C-C3C6-294B-64C6-3D3834DEDF05}"/>
              </a:ext>
            </a:extLst>
          </p:cNvPr>
          <p:cNvSpPr txBox="1"/>
          <p:nvPr/>
        </p:nvSpPr>
        <p:spPr>
          <a:xfrm>
            <a:off x="6816725" y="3608204"/>
            <a:ext cx="1160780" cy="344805"/>
          </a:xfrm>
          <a:prstGeom prst="rect">
            <a:avLst/>
          </a:prstGeom>
          <a:no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r>
              <a:rPr lang="en-US" sz="900" dirty="0">
                <a:effectLst/>
                <a:latin typeface="Times New Roman" panose="02020603050405020304" pitchFamily="18" charset="0"/>
                <a:ea typeface="Times New Roman" panose="02020603050405020304" pitchFamily="18" charset="0"/>
              </a:rPr>
              <a:t>12V,30RPM,DC GEARED MOTORS</a:t>
            </a:r>
            <a:endParaRPr lang="en-IN" sz="1100" dirty="0">
              <a:effectLst/>
              <a:latin typeface="Times New Roman" panose="02020603050405020304" pitchFamily="18" charset="0"/>
              <a:ea typeface="Times New Roman" panose="02020603050405020304" pitchFamily="18" charset="0"/>
            </a:endParaRPr>
          </a:p>
        </p:txBody>
      </p:sp>
      <p:cxnSp>
        <p:nvCxnSpPr>
          <p:cNvPr id="28" name="Connector: Elbow 27">
            <a:extLst>
              <a:ext uri="{FF2B5EF4-FFF2-40B4-BE49-F238E27FC236}">
                <a16:creationId xmlns:a16="http://schemas.microsoft.com/office/drawing/2014/main" id="{5E6A9CAE-AC9E-F7B5-432E-FC9471640CE5}"/>
              </a:ext>
            </a:extLst>
          </p:cNvPr>
          <p:cNvCxnSpPr/>
          <p:nvPr/>
        </p:nvCxnSpPr>
        <p:spPr>
          <a:xfrm>
            <a:off x="3670935" y="2916689"/>
            <a:ext cx="716915" cy="391795"/>
          </a:xfrm>
          <a:prstGeom prst="bentConnector3">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29" name="Connector: Elbow 28">
            <a:extLst>
              <a:ext uri="{FF2B5EF4-FFF2-40B4-BE49-F238E27FC236}">
                <a16:creationId xmlns:a16="http://schemas.microsoft.com/office/drawing/2014/main" id="{9A387785-829E-1404-9A8D-DDF4D1FA8D84}"/>
              </a:ext>
            </a:extLst>
          </p:cNvPr>
          <p:cNvCxnSpPr/>
          <p:nvPr/>
        </p:nvCxnSpPr>
        <p:spPr>
          <a:xfrm flipV="1">
            <a:off x="3688080" y="3309119"/>
            <a:ext cx="688340" cy="501650"/>
          </a:xfrm>
          <a:prstGeom prst="bentConnector3">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30" name="Connector: Elbow 29">
            <a:extLst>
              <a:ext uri="{FF2B5EF4-FFF2-40B4-BE49-F238E27FC236}">
                <a16:creationId xmlns:a16="http://schemas.microsoft.com/office/drawing/2014/main" id="{21979358-1565-A52B-F568-0C9C3A641D92}"/>
              </a:ext>
            </a:extLst>
          </p:cNvPr>
          <p:cNvCxnSpPr/>
          <p:nvPr/>
        </p:nvCxnSpPr>
        <p:spPr>
          <a:xfrm flipV="1">
            <a:off x="6096000" y="2849379"/>
            <a:ext cx="775970" cy="465455"/>
          </a:xfrm>
          <a:prstGeom prst="bentConnector3">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31" name="Connector: Elbow 30">
            <a:extLst>
              <a:ext uri="{FF2B5EF4-FFF2-40B4-BE49-F238E27FC236}">
                <a16:creationId xmlns:a16="http://schemas.microsoft.com/office/drawing/2014/main" id="{4D4CBB70-03C9-6085-F944-9F3D6583D470}"/>
              </a:ext>
            </a:extLst>
          </p:cNvPr>
          <p:cNvCxnSpPr/>
          <p:nvPr/>
        </p:nvCxnSpPr>
        <p:spPr>
          <a:xfrm>
            <a:off x="6101715" y="3309119"/>
            <a:ext cx="730250" cy="454025"/>
          </a:xfrm>
          <a:prstGeom prst="bentConnector3">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32" name="Text Box 8">
            <a:extLst>
              <a:ext uri="{FF2B5EF4-FFF2-40B4-BE49-F238E27FC236}">
                <a16:creationId xmlns:a16="http://schemas.microsoft.com/office/drawing/2014/main" id="{DAC99E42-42AD-C187-49FD-14B68B4C557D}"/>
              </a:ext>
            </a:extLst>
          </p:cNvPr>
          <p:cNvSpPr txBox="1"/>
          <p:nvPr/>
        </p:nvSpPr>
        <p:spPr>
          <a:xfrm>
            <a:off x="4352925" y="2159134"/>
            <a:ext cx="1995805" cy="258445"/>
          </a:xfrm>
          <a:prstGeom prst="rect">
            <a:avLst/>
          </a:prstGeom>
          <a:no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r>
              <a:rPr lang="en-IN" sz="1000" dirty="0">
                <a:effectLst/>
                <a:latin typeface="Times New Roman" panose="02020603050405020304" pitchFamily="18" charset="0"/>
                <a:ea typeface="Times New Roman" panose="02020603050405020304" pitchFamily="18" charset="0"/>
              </a:rPr>
              <a:t>ULTRASONIC SENSOR HS-04</a:t>
            </a:r>
            <a:endParaRPr lang="en-IN" sz="1100" dirty="0">
              <a:effectLst/>
              <a:latin typeface="Times New Roman" panose="02020603050405020304" pitchFamily="18" charset="0"/>
              <a:ea typeface="Times New Roman" panose="02020603050405020304" pitchFamily="18" charset="0"/>
            </a:endParaRPr>
          </a:p>
        </p:txBody>
      </p:sp>
      <p:sp>
        <p:nvSpPr>
          <p:cNvPr id="33" name="Text Box 9">
            <a:extLst>
              <a:ext uri="{FF2B5EF4-FFF2-40B4-BE49-F238E27FC236}">
                <a16:creationId xmlns:a16="http://schemas.microsoft.com/office/drawing/2014/main" id="{769117C6-E0C5-83CB-F2BA-3870B96ECBE1}"/>
              </a:ext>
            </a:extLst>
          </p:cNvPr>
          <p:cNvSpPr txBox="1"/>
          <p:nvPr/>
        </p:nvSpPr>
        <p:spPr>
          <a:xfrm>
            <a:off x="4739005" y="2486794"/>
            <a:ext cx="977265" cy="344805"/>
          </a:xfrm>
          <a:prstGeom prst="rect">
            <a:avLst/>
          </a:prstGeom>
          <a:no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n-IN" sz="800">
                <a:effectLst/>
                <a:latin typeface="Times New Roman" panose="02020603050405020304" pitchFamily="18" charset="0"/>
                <a:ea typeface="Times New Roman" panose="02020603050405020304" pitchFamily="18" charset="0"/>
              </a:rPr>
              <a:t>SERVO MOTOR SG-90</a:t>
            </a:r>
            <a:endParaRPr lang="en-IN" sz="1100">
              <a:effectLst/>
              <a:latin typeface="Times New Roman" panose="02020603050405020304" pitchFamily="18" charset="0"/>
              <a:ea typeface="Times New Roman" panose="02020603050405020304" pitchFamily="18" charset="0"/>
            </a:endParaRPr>
          </a:p>
        </p:txBody>
      </p:sp>
      <p:cxnSp>
        <p:nvCxnSpPr>
          <p:cNvPr id="34" name="Straight Arrow Connector 33">
            <a:extLst>
              <a:ext uri="{FF2B5EF4-FFF2-40B4-BE49-F238E27FC236}">
                <a16:creationId xmlns:a16="http://schemas.microsoft.com/office/drawing/2014/main" id="{A3AE36C0-B223-A95F-FFEF-BCF0F7964ABB}"/>
              </a:ext>
            </a:extLst>
          </p:cNvPr>
          <p:cNvCxnSpPr/>
          <p:nvPr/>
        </p:nvCxnSpPr>
        <p:spPr>
          <a:xfrm>
            <a:off x="5227955" y="2831599"/>
            <a:ext cx="2540" cy="31623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Text Box 11">
            <a:extLst>
              <a:ext uri="{FF2B5EF4-FFF2-40B4-BE49-F238E27FC236}">
                <a16:creationId xmlns:a16="http://schemas.microsoft.com/office/drawing/2014/main" id="{569C7FA6-8006-2E59-E957-88B86421FE5E}"/>
              </a:ext>
            </a:extLst>
          </p:cNvPr>
          <p:cNvSpPr txBox="1"/>
          <p:nvPr/>
        </p:nvSpPr>
        <p:spPr>
          <a:xfrm>
            <a:off x="6553835" y="4114299"/>
            <a:ext cx="2189480" cy="257810"/>
          </a:xfrm>
          <a:prstGeom prst="rect">
            <a:avLst/>
          </a:prstGeom>
          <a:no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r>
              <a:rPr lang="en-IN" sz="800">
                <a:effectLst/>
                <a:latin typeface="Times New Roman" panose="02020603050405020304" pitchFamily="18" charset="0"/>
                <a:ea typeface="Times New Roman" panose="02020603050405020304" pitchFamily="18" charset="0"/>
              </a:rPr>
              <a:t>12V-9V POWER MODULE CONVERTER</a:t>
            </a:r>
            <a:endParaRPr lang="en-IN" sz="1100">
              <a:effectLst/>
              <a:latin typeface="Times New Roman" panose="02020603050405020304" pitchFamily="18" charset="0"/>
              <a:ea typeface="Times New Roman" panose="02020603050405020304" pitchFamily="18" charset="0"/>
            </a:endParaRPr>
          </a:p>
        </p:txBody>
      </p:sp>
      <p:sp>
        <p:nvSpPr>
          <p:cNvPr id="36" name="Text Box 12">
            <a:extLst>
              <a:ext uri="{FF2B5EF4-FFF2-40B4-BE49-F238E27FC236}">
                <a16:creationId xmlns:a16="http://schemas.microsoft.com/office/drawing/2014/main" id="{B500417C-9061-9433-8A5C-BF9E46B21BA9}"/>
              </a:ext>
            </a:extLst>
          </p:cNvPr>
          <p:cNvSpPr txBox="1"/>
          <p:nvPr/>
        </p:nvSpPr>
        <p:spPr>
          <a:xfrm>
            <a:off x="6991350" y="4589279"/>
            <a:ext cx="1427480" cy="318135"/>
          </a:xfrm>
          <a:prstGeom prst="rect">
            <a:avLst/>
          </a:prstGeom>
          <a:no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r>
              <a:rPr lang="en-IN" sz="1100">
                <a:effectLst/>
                <a:latin typeface="Times New Roman" panose="02020603050405020304" pitchFamily="18" charset="0"/>
                <a:ea typeface="Times New Roman" panose="02020603050405020304" pitchFamily="18" charset="0"/>
              </a:rPr>
              <a:t>12V,2A ADAPTER</a:t>
            </a:r>
          </a:p>
        </p:txBody>
      </p:sp>
      <p:cxnSp>
        <p:nvCxnSpPr>
          <p:cNvPr id="37" name="Straight Arrow Connector 36">
            <a:extLst>
              <a:ext uri="{FF2B5EF4-FFF2-40B4-BE49-F238E27FC236}">
                <a16:creationId xmlns:a16="http://schemas.microsoft.com/office/drawing/2014/main" id="{A0AAC4F2-1A72-139A-0B09-A0EA57B19213}"/>
              </a:ext>
            </a:extLst>
          </p:cNvPr>
          <p:cNvCxnSpPr/>
          <p:nvPr/>
        </p:nvCxnSpPr>
        <p:spPr>
          <a:xfrm flipH="1" flipV="1">
            <a:off x="7643495" y="4372109"/>
            <a:ext cx="12700" cy="2171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Connector: Elbow 37">
            <a:extLst>
              <a:ext uri="{FF2B5EF4-FFF2-40B4-BE49-F238E27FC236}">
                <a16:creationId xmlns:a16="http://schemas.microsoft.com/office/drawing/2014/main" id="{D65DEEFA-5085-568B-80C3-FDC7A93BE7A6}"/>
              </a:ext>
            </a:extLst>
          </p:cNvPr>
          <p:cNvCxnSpPr/>
          <p:nvPr/>
        </p:nvCxnSpPr>
        <p:spPr>
          <a:xfrm rot="10800000">
            <a:off x="5968365" y="3721869"/>
            <a:ext cx="585470" cy="520700"/>
          </a:xfrm>
          <a:prstGeom prst="bentConnector3">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39" name="TextBox 38">
            <a:extLst>
              <a:ext uri="{FF2B5EF4-FFF2-40B4-BE49-F238E27FC236}">
                <a16:creationId xmlns:a16="http://schemas.microsoft.com/office/drawing/2014/main" id="{00ED6016-C09D-6B1A-BC8B-72278737FF7D}"/>
              </a:ext>
            </a:extLst>
          </p:cNvPr>
          <p:cNvSpPr txBox="1"/>
          <p:nvPr/>
        </p:nvSpPr>
        <p:spPr>
          <a:xfrm>
            <a:off x="1399606" y="1163052"/>
            <a:ext cx="2711116" cy="369332"/>
          </a:xfrm>
          <a:prstGeom prst="rect">
            <a:avLst/>
          </a:prstGeom>
          <a:noFill/>
        </p:spPr>
        <p:txBody>
          <a:bodyPr wrap="square" rtlCol="0">
            <a:spAutoFit/>
          </a:bodyPr>
          <a:lstStyle/>
          <a:p>
            <a:r>
              <a:rPr lang="en-IN" dirty="0"/>
              <a:t>BLOCK DIAGRAM:</a:t>
            </a:r>
          </a:p>
        </p:txBody>
      </p:sp>
      <p:sp>
        <p:nvSpPr>
          <p:cNvPr id="40" name="Rectangle 39">
            <a:extLst>
              <a:ext uri="{FF2B5EF4-FFF2-40B4-BE49-F238E27FC236}">
                <a16:creationId xmlns:a16="http://schemas.microsoft.com/office/drawing/2014/main" id="{D59CFDB6-B345-39E4-3D95-0B298EAA21CD}"/>
              </a:ext>
            </a:extLst>
          </p:cNvPr>
          <p:cNvSpPr/>
          <p:nvPr/>
        </p:nvSpPr>
        <p:spPr>
          <a:xfrm>
            <a:off x="1644316" y="1737694"/>
            <a:ext cx="7355305" cy="4173822"/>
          </a:xfrm>
          <a:prstGeom prst="rect">
            <a:avLst/>
          </a:prstGeom>
          <a:noFill/>
          <a:ln>
            <a:solidFill>
              <a:schemeClr val="bg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9122880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4E216F6-3850-E80E-961F-1750238FE990}"/>
              </a:ext>
            </a:extLst>
          </p:cNvPr>
          <p:cNvSpPr txBox="1"/>
          <p:nvPr/>
        </p:nvSpPr>
        <p:spPr>
          <a:xfrm>
            <a:off x="4645494" y="658198"/>
            <a:ext cx="2711114" cy="400110"/>
          </a:xfrm>
          <a:prstGeom prst="rect">
            <a:avLst/>
          </a:prstGeom>
          <a:noFill/>
        </p:spPr>
        <p:txBody>
          <a:bodyPr wrap="square" rtlCol="0">
            <a:spAutoFit/>
          </a:bodyPr>
          <a:lstStyle/>
          <a:p>
            <a:r>
              <a:rPr lang="en-IN" sz="2000" dirty="0"/>
              <a:t>SCHEMATIC DIAGRAM</a:t>
            </a:r>
          </a:p>
        </p:txBody>
      </p:sp>
      <p:pic>
        <p:nvPicPr>
          <p:cNvPr id="4" name="Picture 3" descr="how to make obstacle avoiding robot Arduino">
            <a:extLst>
              <a:ext uri="{FF2B5EF4-FFF2-40B4-BE49-F238E27FC236}">
                <a16:creationId xmlns:a16="http://schemas.microsoft.com/office/drawing/2014/main" id="{D81FBFF3-E09C-4229-8CDA-EBA54C49932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72565" y="1869389"/>
            <a:ext cx="7456972" cy="412233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9489540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CC795A0-7FA6-816B-E89A-B085D591CDFA}"/>
              </a:ext>
            </a:extLst>
          </p:cNvPr>
          <p:cNvSpPr txBox="1"/>
          <p:nvPr/>
        </p:nvSpPr>
        <p:spPr>
          <a:xfrm>
            <a:off x="4523874" y="296779"/>
            <a:ext cx="2077452" cy="400110"/>
          </a:xfrm>
          <a:prstGeom prst="rect">
            <a:avLst/>
          </a:prstGeom>
          <a:noFill/>
        </p:spPr>
        <p:txBody>
          <a:bodyPr wrap="square" rtlCol="0">
            <a:spAutoFit/>
          </a:bodyPr>
          <a:lstStyle/>
          <a:p>
            <a:r>
              <a:rPr lang="en-IN" sz="2000" dirty="0"/>
              <a:t>SOFTWARE CODE:</a:t>
            </a:r>
          </a:p>
        </p:txBody>
      </p:sp>
      <p:sp>
        <p:nvSpPr>
          <p:cNvPr id="6" name="Text Box 2">
            <a:extLst>
              <a:ext uri="{FF2B5EF4-FFF2-40B4-BE49-F238E27FC236}">
                <a16:creationId xmlns:a16="http://schemas.microsoft.com/office/drawing/2014/main" id="{11C141AA-76F5-DA31-5F01-2F9C8CD368D0}"/>
              </a:ext>
            </a:extLst>
          </p:cNvPr>
          <p:cNvSpPr txBox="1">
            <a:spLocks noChangeArrowheads="1"/>
          </p:cNvSpPr>
          <p:nvPr/>
        </p:nvSpPr>
        <p:spPr bwMode="auto">
          <a:xfrm>
            <a:off x="2248719" y="918695"/>
            <a:ext cx="6627762" cy="5642525"/>
          </a:xfrm>
          <a:prstGeom prst="rect">
            <a:avLst/>
          </a:prstGeom>
          <a:noFill/>
          <a:ln w="9525">
            <a:noFill/>
            <a:miter lim="800000"/>
            <a:headEnd/>
            <a:tailEnd/>
          </a:ln>
        </p:spPr>
        <p:txBody>
          <a:bodyPr rot="0" vert="horz" wrap="square" lIns="91440" tIns="45720" rIns="91440" bIns="45720" anchor="t" anchorCtr="0">
            <a:noAutofit/>
          </a:bodyPr>
          <a:lstStyle/>
          <a:p>
            <a:r>
              <a:rPr lang="en-US" sz="1400" dirty="0">
                <a:effectLst/>
                <a:latin typeface="Times New Roman" panose="02020603050405020304" pitchFamily="18" charset="0"/>
                <a:ea typeface="Times New Roman" panose="02020603050405020304" pitchFamily="18" charset="0"/>
              </a:rPr>
              <a:t>#include "</a:t>
            </a:r>
            <a:r>
              <a:rPr lang="en-US" sz="1400" dirty="0" err="1">
                <a:effectLst/>
                <a:latin typeface="Times New Roman" panose="02020603050405020304" pitchFamily="18" charset="0"/>
                <a:ea typeface="Times New Roman" panose="02020603050405020304" pitchFamily="18" charset="0"/>
              </a:rPr>
              <a:t>AFMotor.h</a:t>
            </a:r>
            <a:r>
              <a:rPr lang="en-US" sz="1400" dirty="0">
                <a:effectLst/>
                <a:latin typeface="Times New Roman" panose="02020603050405020304" pitchFamily="18" charset="0"/>
                <a:ea typeface="Times New Roman" panose="02020603050405020304" pitchFamily="18" charset="0"/>
              </a:rPr>
              <a:t>"</a:t>
            </a:r>
            <a:endParaRPr lang="en-IN" sz="1400" dirty="0">
              <a:effectLst/>
              <a:latin typeface="Times New Roman" panose="02020603050405020304" pitchFamily="18" charset="0"/>
              <a:ea typeface="Times New Roman" panose="02020603050405020304" pitchFamily="18" charset="0"/>
            </a:endParaRPr>
          </a:p>
          <a:p>
            <a:r>
              <a:rPr lang="en-US" sz="1400" dirty="0">
                <a:effectLst/>
                <a:latin typeface="Times New Roman" panose="02020603050405020304" pitchFamily="18" charset="0"/>
                <a:ea typeface="Times New Roman" panose="02020603050405020304" pitchFamily="18" charset="0"/>
              </a:rPr>
              <a:t>#include &lt;</a:t>
            </a:r>
            <a:r>
              <a:rPr lang="en-US" sz="1400" dirty="0" err="1">
                <a:effectLst/>
                <a:latin typeface="Times New Roman" panose="02020603050405020304" pitchFamily="18" charset="0"/>
                <a:ea typeface="Times New Roman" panose="02020603050405020304" pitchFamily="18" charset="0"/>
              </a:rPr>
              <a:t>Servo.h</a:t>
            </a:r>
            <a:r>
              <a:rPr lang="en-US" sz="1400" dirty="0">
                <a:effectLst/>
                <a:latin typeface="Times New Roman" panose="02020603050405020304" pitchFamily="18" charset="0"/>
                <a:ea typeface="Times New Roman" panose="02020603050405020304" pitchFamily="18" charset="0"/>
              </a:rPr>
              <a:t>&gt;</a:t>
            </a:r>
            <a:endParaRPr lang="en-IN" sz="1400" dirty="0">
              <a:effectLst/>
              <a:latin typeface="Times New Roman" panose="02020603050405020304" pitchFamily="18" charset="0"/>
              <a:ea typeface="Times New Roman" panose="02020603050405020304" pitchFamily="18" charset="0"/>
            </a:endParaRPr>
          </a:p>
          <a:p>
            <a:r>
              <a:rPr lang="en-US" sz="1400" dirty="0">
                <a:effectLst/>
                <a:latin typeface="Times New Roman" panose="02020603050405020304" pitchFamily="18" charset="0"/>
                <a:ea typeface="Times New Roman" panose="02020603050405020304" pitchFamily="18" charset="0"/>
              </a:rPr>
              <a:t> </a:t>
            </a:r>
            <a:endParaRPr lang="en-IN" sz="1400" dirty="0">
              <a:effectLst/>
              <a:latin typeface="Times New Roman" panose="02020603050405020304" pitchFamily="18" charset="0"/>
              <a:ea typeface="Times New Roman" panose="02020603050405020304" pitchFamily="18" charset="0"/>
            </a:endParaRPr>
          </a:p>
          <a:p>
            <a:r>
              <a:rPr lang="en-US" sz="1400" dirty="0">
                <a:effectLst/>
                <a:latin typeface="Times New Roman" panose="02020603050405020304" pitchFamily="18" charset="0"/>
                <a:ea typeface="Times New Roman" panose="02020603050405020304" pitchFamily="18" charset="0"/>
              </a:rPr>
              <a:t>#define </a:t>
            </a:r>
            <a:r>
              <a:rPr lang="en-US" sz="1400" dirty="0" err="1">
                <a:effectLst/>
                <a:latin typeface="Times New Roman" panose="02020603050405020304" pitchFamily="18" charset="0"/>
                <a:ea typeface="Times New Roman" panose="02020603050405020304" pitchFamily="18" charset="0"/>
              </a:rPr>
              <a:t>echopin</a:t>
            </a:r>
            <a:r>
              <a:rPr lang="en-US" sz="1400" dirty="0">
                <a:effectLst/>
                <a:latin typeface="Times New Roman" panose="02020603050405020304" pitchFamily="18" charset="0"/>
                <a:ea typeface="Times New Roman" panose="02020603050405020304" pitchFamily="18" charset="0"/>
              </a:rPr>
              <a:t> A4 // echo pin</a:t>
            </a:r>
            <a:endParaRPr lang="en-IN" sz="1400" dirty="0">
              <a:effectLst/>
              <a:latin typeface="Times New Roman" panose="02020603050405020304" pitchFamily="18" charset="0"/>
              <a:ea typeface="Times New Roman" panose="02020603050405020304" pitchFamily="18" charset="0"/>
            </a:endParaRPr>
          </a:p>
          <a:p>
            <a:r>
              <a:rPr lang="en-US" sz="1400" dirty="0">
                <a:effectLst/>
                <a:latin typeface="Times New Roman" panose="02020603050405020304" pitchFamily="18" charset="0"/>
                <a:ea typeface="Times New Roman" panose="02020603050405020304" pitchFamily="18" charset="0"/>
              </a:rPr>
              <a:t>#define </a:t>
            </a:r>
            <a:r>
              <a:rPr lang="en-US" sz="1400" dirty="0" err="1">
                <a:effectLst/>
                <a:latin typeface="Times New Roman" panose="02020603050405020304" pitchFamily="18" charset="0"/>
                <a:ea typeface="Times New Roman" panose="02020603050405020304" pitchFamily="18" charset="0"/>
              </a:rPr>
              <a:t>trigpin</a:t>
            </a:r>
            <a:r>
              <a:rPr lang="en-US" sz="1400" dirty="0">
                <a:effectLst/>
                <a:latin typeface="Times New Roman" panose="02020603050405020304" pitchFamily="18" charset="0"/>
                <a:ea typeface="Times New Roman" panose="02020603050405020304" pitchFamily="18" charset="0"/>
              </a:rPr>
              <a:t> A5 // Trigger pin</a:t>
            </a:r>
            <a:endParaRPr lang="en-IN" sz="1400" dirty="0">
              <a:effectLst/>
              <a:latin typeface="Times New Roman" panose="02020603050405020304" pitchFamily="18" charset="0"/>
              <a:ea typeface="Times New Roman" panose="02020603050405020304" pitchFamily="18" charset="0"/>
            </a:endParaRPr>
          </a:p>
          <a:p>
            <a:r>
              <a:rPr lang="en-US" sz="1400" dirty="0">
                <a:effectLst/>
                <a:latin typeface="Times New Roman" panose="02020603050405020304" pitchFamily="18" charset="0"/>
                <a:ea typeface="Times New Roman" panose="02020603050405020304" pitchFamily="18" charset="0"/>
              </a:rPr>
              <a:t> </a:t>
            </a:r>
            <a:endParaRPr lang="en-IN" sz="1400" dirty="0">
              <a:effectLst/>
              <a:latin typeface="Times New Roman" panose="02020603050405020304" pitchFamily="18" charset="0"/>
              <a:ea typeface="Times New Roman" panose="02020603050405020304" pitchFamily="18" charset="0"/>
            </a:endParaRPr>
          </a:p>
          <a:p>
            <a:r>
              <a:rPr lang="en-US" sz="1400" dirty="0">
                <a:effectLst/>
                <a:latin typeface="Times New Roman" panose="02020603050405020304" pitchFamily="18" charset="0"/>
                <a:ea typeface="Times New Roman" panose="02020603050405020304" pitchFamily="18" charset="0"/>
              </a:rPr>
              <a:t>Servo </a:t>
            </a:r>
            <a:r>
              <a:rPr lang="en-US" sz="1400" dirty="0" err="1">
                <a:effectLst/>
                <a:latin typeface="Times New Roman" panose="02020603050405020304" pitchFamily="18" charset="0"/>
                <a:ea typeface="Times New Roman" panose="02020603050405020304" pitchFamily="18" charset="0"/>
              </a:rPr>
              <a:t>myservo</a:t>
            </a:r>
            <a:r>
              <a:rPr lang="en-US" sz="1400" dirty="0">
                <a:effectLst/>
                <a:latin typeface="Times New Roman" panose="02020603050405020304" pitchFamily="18" charset="0"/>
                <a:ea typeface="Times New Roman" panose="02020603050405020304" pitchFamily="18" charset="0"/>
              </a:rPr>
              <a:t>;</a:t>
            </a:r>
            <a:endParaRPr lang="en-IN" sz="1400" dirty="0">
              <a:effectLst/>
              <a:latin typeface="Times New Roman" panose="02020603050405020304" pitchFamily="18" charset="0"/>
              <a:ea typeface="Times New Roman" panose="02020603050405020304" pitchFamily="18" charset="0"/>
            </a:endParaRPr>
          </a:p>
          <a:p>
            <a:r>
              <a:rPr lang="en-US" sz="1400" dirty="0">
                <a:effectLst/>
                <a:latin typeface="Times New Roman" panose="02020603050405020304" pitchFamily="18" charset="0"/>
                <a:ea typeface="Times New Roman" panose="02020603050405020304" pitchFamily="18" charset="0"/>
              </a:rPr>
              <a:t> </a:t>
            </a:r>
            <a:endParaRPr lang="en-IN" sz="1400" dirty="0">
              <a:effectLst/>
              <a:latin typeface="Times New Roman" panose="02020603050405020304" pitchFamily="18" charset="0"/>
              <a:ea typeface="Times New Roman" panose="02020603050405020304" pitchFamily="18" charset="0"/>
            </a:endParaRPr>
          </a:p>
          <a:p>
            <a:r>
              <a:rPr lang="en-US" sz="1400" dirty="0">
                <a:effectLst/>
                <a:latin typeface="Times New Roman" panose="02020603050405020304" pitchFamily="18" charset="0"/>
                <a:ea typeface="Times New Roman" panose="02020603050405020304" pitchFamily="18" charset="0"/>
              </a:rPr>
              <a:t>const int MOTOR_1 = 1; </a:t>
            </a:r>
            <a:endParaRPr lang="en-IN" sz="1400" dirty="0">
              <a:effectLst/>
              <a:latin typeface="Times New Roman" panose="02020603050405020304" pitchFamily="18" charset="0"/>
              <a:ea typeface="Times New Roman" panose="02020603050405020304" pitchFamily="18" charset="0"/>
            </a:endParaRPr>
          </a:p>
          <a:p>
            <a:r>
              <a:rPr lang="en-US" sz="1400" dirty="0">
                <a:effectLst/>
                <a:latin typeface="Times New Roman" panose="02020603050405020304" pitchFamily="18" charset="0"/>
                <a:ea typeface="Times New Roman" panose="02020603050405020304" pitchFamily="18" charset="0"/>
              </a:rPr>
              <a:t>const int MOTOR_2 = 2; </a:t>
            </a:r>
            <a:endParaRPr lang="en-IN" sz="1400" dirty="0">
              <a:effectLst/>
              <a:latin typeface="Times New Roman" panose="02020603050405020304" pitchFamily="18" charset="0"/>
              <a:ea typeface="Times New Roman" panose="02020603050405020304" pitchFamily="18" charset="0"/>
            </a:endParaRPr>
          </a:p>
          <a:p>
            <a:r>
              <a:rPr lang="en-US" sz="1400" dirty="0">
                <a:effectLst/>
                <a:latin typeface="Times New Roman" panose="02020603050405020304" pitchFamily="18" charset="0"/>
                <a:ea typeface="Times New Roman" panose="02020603050405020304" pitchFamily="18" charset="0"/>
              </a:rPr>
              <a:t>const int MOTOR_3 = 3; </a:t>
            </a:r>
            <a:endParaRPr lang="en-IN" sz="1400" dirty="0">
              <a:effectLst/>
              <a:latin typeface="Times New Roman" panose="02020603050405020304" pitchFamily="18" charset="0"/>
              <a:ea typeface="Times New Roman" panose="02020603050405020304" pitchFamily="18" charset="0"/>
            </a:endParaRPr>
          </a:p>
          <a:p>
            <a:r>
              <a:rPr lang="en-US" sz="1400" dirty="0">
                <a:effectLst/>
                <a:latin typeface="Times New Roman" panose="02020603050405020304" pitchFamily="18" charset="0"/>
                <a:ea typeface="Times New Roman" panose="02020603050405020304" pitchFamily="18" charset="0"/>
              </a:rPr>
              <a:t>const int MOTOR_4 = 4; </a:t>
            </a:r>
            <a:endParaRPr lang="en-IN" sz="1400" dirty="0">
              <a:effectLst/>
              <a:latin typeface="Times New Roman" panose="02020603050405020304" pitchFamily="18" charset="0"/>
              <a:ea typeface="Times New Roman" panose="02020603050405020304" pitchFamily="18" charset="0"/>
            </a:endParaRPr>
          </a:p>
          <a:p>
            <a:r>
              <a:rPr lang="en-US" sz="1400" dirty="0">
                <a:effectLst/>
                <a:latin typeface="Times New Roman" panose="02020603050405020304" pitchFamily="18" charset="0"/>
                <a:ea typeface="Times New Roman" panose="02020603050405020304" pitchFamily="18" charset="0"/>
              </a:rPr>
              <a:t> </a:t>
            </a:r>
            <a:endParaRPr lang="en-IN" sz="1400" dirty="0">
              <a:effectLst/>
              <a:latin typeface="Times New Roman" panose="02020603050405020304" pitchFamily="18" charset="0"/>
              <a:ea typeface="Times New Roman" panose="02020603050405020304" pitchFamily="18" charset="0"/>
            </a:endParaRPr>
          </a:p>
          <a:p>
            <a:r>
              <a:rPr lang="en-US" sz="1400" dirty="0" err="1">
                <a:effectLst/>
                <a:latin typeface="Times New Roman" panose="02020603050405020304" pitchFamily="18" charset="0"/>
                <a:ea typeface="Times New Roman" panose="02020603050405020304" pitchFamily="18" charset="0"/>
              </a:rPr>
              <a:t>AF_DCMotor</a:t>
            </a:r>
            <a:r>
              <a:rPr lang="en-US" sz="1400" dirty="0">
                <a:effectLst/>
                <a:latin typeface="Times New Roman" panose="02020603050405020304" pitchFamily="18" charset="0"/>
                <a:ea typeface="Times New Roman" panose="02020603050405020304" pitchFamily="18" charset="0"/>
              </a:rPr>
              <a:t> motor1(MOTOR_1, MOTOR12_64KHZ); // create motor object, 64KHz </a:t>
            </a:r>
            <a:r>
              <a:rPr lang="en-US" sz="1400" dirty="0" err="1">
                <a:effectLst/>
                <a:latin typeface="Times New Roman" panose="02020603050405020304" pitchFamily="18" charset="0"/>
                <a:ea typeface="Times New Roman" panose="02020603050405020304" pitchFamily="18" charset="0"/>
              </a:rPr>
              <a:t>pwm</a:t>
            </a:r>
            <a:endParaRPr lang="en-IN" sz="1400" dirty="0">
              <a:effectLst/>
              <a:latin typeface="Times New Roman" panose="02020603050405020304" pitchFamily="18" charset="0"/>
              <a:ea typeface="Times New Roman" panose="02020603050405020304" pitchFamily="18" charset="0"/>
            </a:endParaRPr>
          </a:p>
          <a:p>
            <a:r>
              <a:rPr lang="en-US" sz="1400" dirty="0" err="1">
                <a:effectLst/>
                <a:latin typeface="Times New Roman" panose="02020603050405020304" pitchFamily="18" charset="0"/>
                <a:ea typeface="Times New Roman" panose="02020603050405020304" pitchFamily="18" charset="0"/>
              </a:rPr>
              <a:t>AF_DCMotor</a:t>
            </a:r>
            <a:r>
              <a:rPr lang="en-US" sz="1400" dirty="0">
                <a:effectLst/>
                <a:latin typeface="Times New Roman" panose="02020603050405020304" pitchFamily="18" charset="0"/>
                <a:ea typeface="Times New Roman" panose="02020603050405020304" pitchFamily="18" charset="0"/>
              </a:rPr>
              <a:t> motor2(MOTOR_2, MOTOR12_64KHZ); // create motor object, 64KHz </a:t>
            </a:r>
            <a:r>
              <a:rPr lang="en-US" sz="1400" dirty="0" err="1">
                <a:effectLst/>
                <a:latin typeface="Times New Roman" panose="02020603050405020304" pitchFamily="18" charset="0"/>
                <a:ea typeface="Times New Roman" panose="02020603050405020304" pitchFamily="18" charset="0"/>
              </a:rPr>
              <a:t>pwm</a:t>
            </a:r>
            <a:endParaRPr lang="en-IN" sz="1400" dirty="0">
              <a:effectLst/>
              <a:latin typeface="Times New Roman" panose="02020603050405020304" pitchFamily="18" charset="0"/>
              <a:ea typeface="Times New Roman" panose="02020603050405020304" pitchFamily="18" charset="0"/>
            </a:endParaRPr>
          </a:p>
          <a:p>
            <a:r>
              <a:rPr lang="en-US" sz="1400" dirty="0" err="1">
                <a:effectLst/>
                <a:latin typeface="Times New Roman" panose="02020603050405020304" pitchFamily="18" charset="0"/>
                <a:ea typeface="Times New Roman" panose="02020603050405020304" pitchFamily="18" charset="0"/>
              </a:rPr>
              <a:t>AF_DCMotor</a:t>
            </a:r>
            <a:r>
              <a:rPr lang="en-US" sz="1400" dirty="0">
                <a:effectLst/>
                <a:latin typeface="Times New Roman" panose="02020603050405020304" pitchFamily="18" charset="0"/>
                <a:ea typeface="Times New Roman" panose="02020603050405020304" pitchFamily="18" charset="0"/>
              </a:rPr>
              <a:t> motor3(MOTOR_3, MOTOR12_64KHZ); // create motor object, 64KHz </a:t>
            </a:r>
            <a:r>
              <a:rPr lang="en-US" sz="1400" dirty="0" err="1">
                <a:effectLst/>
                <a:latin typeface="Times New Roman" panose="02020603050405020304" pitchFamily="18" charset="0"/>
                <a:ea typeface="Times New Roman" panose="02020603050405020304" pitchFamily="18" charset="0"/>
              </a:rPr>
              <a:t>pwm</a:t>
            </a:r>
            <a:endParaRPr lang="en-IN" sz="1400" dirty="0">
              <a:effectLst/>
              <a:latin typeface="Times New Roman" panose="02020603050405020304" pitchFamily="18" charset="0"/>
              <a:ea typeface="Times New Roman" panose="02020603050405020304" pitchFamily="18" charset="0"/>
            </a:endParaRPr>
          </a:p>
          <a:p>
            <a:r>
              <a:rPr lang="en-US" sz="1400" dirty="0" err="1">
                <a:effectLst/>
                <a:latin typeface="Times New Roman" panose="02020603050405020304" pitchFamily="18" charset="0"/>
                <a:ea typeface="Times New Roman" panose="02020603050405020304" pitchFamily="18" charset="0"/>
              </a:rPr>
              <a:t>AF_DCMotor</a:t>
            </a:r>
            <a:r>
              <a:rPr lang="en-US" sz="1400" dirty="0">
                <a:effectLst/>
                <a:latin typeface="Times New Roman" panose="02020603050405020304" pitchFamily="18" charset="0"/>
                <a:ea typeface="Times New Roman" panose="02020603050405020304" pitchFamily="18" charset="0"/>
              </a:rPr>
              <a:t> motor4(MOTOR_4, MOTOR12_64KHZ); // create motor object, 64KHz </a:t>
            </a:r>
            <a:r>
              <a:rPr lang="en-US" sz="1400" dirty="0" err="1">
                <a:effectLst/>
                <a:latin typeface="Times New Roman" panose="02020603050405020304" pitchFamily="18" charset="0"/>
                <a:ea typeface="Times New Roman" panose="02020603050405020304" pitchFamily="18" charset="0"/>
              </a:rPr>
              <a:t>pwm</a:t>
            </a:r>
            <a:endParaRPr lang="en-IN" sz="1400" dirty="0">
              <a:effectLst/>
              <a:latin typeface="Times New Roman" panose="02020603050405020304" pitchFamily="18" charset="0"/>
              <a:ea typeface="Times New Roman" panose="02020603050405020304" pitchFamily="18" charset="0"/>
            </a:endParaRPr>
          </a:p>
          <a:p>
            <a:r>
              <a:rPr lang="en-US" sz="1400" dirty="0">
                <a:effectLst/>
                <a:latin typeface="Times New Roman" panose="02020603050405020304" pitchFamily="18" charset="0"/>
                <a:ea typeface="Times New Roman" panose="02020603050405020304" pitchFamily="18" charset="0"/>
              </a:rPr>
              <a:t>//===============================================================================</a:t>
            </a:r>
            <a:endParaRPr lang="en-IN" sz="1400" dirty="0">
              <a:effectLst/>
              <a:latin typeface="Times New Roman" panose="02020603050405020304" pitchFamily="18" charset="0"/>
              <a:ea typeface="Times New Roman" panose="02020603050405020304" pitchFamily="18" charset="0"/>
            </a:endParaRPr>
          </a:p>
          <a:p>
            <a:r>
              <a:rPr lang="en-US" sz="1400" dirty="0">
                <a:effectLst/>
                <a:latin typeface="Times New Roman" panose="02020603050405020304" pitchFamily="18" charset="0"/>
                <a:ea typeface="Times New Roman" panose="02020603050405020304" pitchFamily="18" charset="0"/>
              </a:rPr>
              <a:t>//  Initialization</a:t>
            </a:r>
            <a:endParaRPr lang="en-IN" sz="1400" dirty="0">
              <a:effectLst/>
              <a:latin typeface="Times New Roman" panose="02020603050405020304" pitchFamily="18" charset="0"/>
              <a:ea typeface="Times New Roman" panose="02020603050405020304" pitchFamily="18" charset="0"/>
            </a:endParaRPr>
          </a:p>
          <a:p>
            <a:r>
              <a:rPr lang="en-US" sz="1400" dirty="0">
                <a:effectLst/>
                <a:latin typeface="Times New Roman" panose="02020603050405020304" pitchFamily="18" charset="0"/>
                <a:ea typeface="Times New Roman" panose="02020603050405020304" pitchFamily="18" charset="0"/>
              </a:rPr>
              <a:t>//===============================================================================</a:t>
            </a:r>
            <a:endParaRPr lang="en-IN" sz="1400" dirty="0">
              <a:effectLst/>
              <a:latin typeface="Times New Roman" panose="02020603050405020304" pitchFamily="18" charset="0"/>
              <a:ea typeface="Times New Roman" panose="02020603050405020304" pitchFamily="18" charset="0"/>
            </a:endParaRPr>
          </a:p>
          <a:p>
            <a:r>
              <a:rPr lang="en-US" sz="1400" dirty="0">
                <a:effectLst/>
                <a:latin typeface="Times New Roman" panose="02020603050405020304" pitchFamily="18" charset="0"/>
                <a:ea typeface="Times New Roman" panose="02020603050405020304" pitchFamily="18" charset="0"/>
              </a:rPr>
              <a:t> </a:t>
            </a:r>
            <a:endParaRPr lang="en-IN" sz="1400" dirty="0">
              <a:effectLst/>
              <a:latin typeface="Times New Roman" panose="02020603050405020304" pitchFamily="18" charset="0"/>
              <a:ea typeface="Times New Roman" panose="02020603050405020304" pitchFamily="18" charset="0"/>
            </a:endParaRPr>
          </a:p>
          <a:p>
            <a:endParaRPr lang="en-IN" sz="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4392699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3ABA3B9-D0F7-9132-6A20-B537D1D02A64}"/>
              </a:ext>
            </a:extLst>
          </p:cNvPr>
          <p:cNvSpPr txBox="1"/>
          <p:nvPr/>
        </p:nvSpPr>
        <p:spPr>
          <a:xfrm>
            <a:off x="2173705" y="920621"/>
            <a:ext cx="7066548" cy="5016758"/>
          </a:xfrm>
          <a:prstGeom prst="rect">
            <a:avLst/>
          </a:prstGeom>
          <a:noFill/>
        </p:spPr>
        <p:txBody>
          <a:bodyPr wrap="square" rtlCol="0">
            <a:spAutoFit/>
          </a:bodyPr>
          <a:lstStyle/>
          <a:p>
            <a:r>
              <a:rPr lang="en-US" sz="1600" dirty="0">
                <a:effectLst/>
                <a:latin typeface="Times New Roman" panose="02020603050405020304" pitchFamily="18" charset="0"/>
                <a:ea typeface="Times New Roman" panose="02020603050405020304" pitchFamily="18" charset="0"/>
              </a:rPr>
              <a:t>int </a:t>
            </a:r>
            <a:r>
              <a:rPr lang="en-US" sz="1600" dirty="0" err="1">
                <a:effectLst/>
                <a:latin typeface="Times New Roman" panose="02020603050405020304" pitchFamily="18" charset="0"/>
                <a:ea typeface="Times New Roman" panose="02020603050405020304" pitchFamily="18" charset="0"/>
              </a:rPr>
              <a:t>distance_L</a:t>
            </a:r>
            <a:r>
              <a:rPr lang="en-US" sz="1600" dirty="0">
                <a:effectLst/>
                <a:latin typeface="Times New Roman" panose="02020603050405020304" pitchFamily="18" charset="0"/>
                <a:ea typeface="Times New Roman" panose="02020603050405020304" pitchFamily="18" charset="0"/>
              </a:rPr>
              <a:t>, </a:t>
            </a:r>
            <a:r>
              <a:rPr lang="en-US" sz="1600" dirty="0" err="1">
                <a:effectLst/>
                <a:latin typeface="Times New Roman" panose="02020603050405020304" pitchFamily="18" charset="0"/>
                <a:ea typeface="Times New Roman" panose="02020603050405020304" pitchFamily="18" charset="0"/>
              </a:rPr>
              <a:t>distance_F</a:t>
            </a:r>
            <a:r>
              <a:rPr lang="en-US" sz="1600" dirty="0">
                <a:effectLst/>
                <a:latin typeface="Times New Roman" panose="02020603050405020304" pitchFamily="18" charset="0"/>
                <a:ea typeface="Times New Roman" panose="02020603050405020304" pitchFamily="18" charset="0"/>
              </a:rPr>
              <a:t>, </a:t>
            </a:r>
            <a:r>
              <a:rPr lang="en-US" sz="1600" dirty="0" err="1">
                <a:effectLst/>
                <a:latin typeface="Times New Roman" panose="02020603050405020304" pitchFamily="18" charset="0"/>
                <a:ea typeface="Times New Roman" panose="02020603050405020304" pitchFamily="18" charset="0"/>
              </a:rPr>
              <a:t>distance_R</a:t>
            </a:r>
            <a:r>
              <a:rPr lang="en-US" sz="1600" dirty="0">
                <a:effectLst/>
                <a:latin typeface="Times New Roman" panose="02020603050405020304" pitchFamily="18" charset="0"/>
                <a:ea typeface="Times New Roman" panose="02020603050405020304" pitchFamily="18" charset="0"/>
              </a:rPr>
              <a:t>;</a:t>
            </a:r>
            <a:endParaRPr lang="en-IN" sz="1600" dirty="0">
              <a:effectLst/>
              <a:latin typeface="Times New Roman" panose="02020603050405020304" pitchFamily="18" charset="0"/>
              <a:ea typeface="Times New Roman" panose="02020603050405020304" pitchFamily="18" charset="0"/>
            </a:endParaRPr>
          </a:p>
          <a:p>
            <a:r>
              <a:rPr lang="en-US" sz="1600" dirty="0">
                <a:effectLst/>
                <a:latin typeface="Times New Roman" panose="02020603050405020304" pitchFamily="18" charset="0"/>
                <a:ea typeface="Times New Roman" panose="02020603050405020304" pitchFamily="18" charset="0"/>
              </a:rPr>
              <a:t>long distance;</a:t>
            </a:r>
            <a:endParaRPr lang="en-IN" sz="1600" dirty="0">
              <a:effectLst/>
              <a:latin typeface="Times New Roman" panose="02020603050405020304" pitchFamily="18" charset="0"/>
              <a:ea typeface="Times New Roman" panose="02020603050405020304" pitchFamily="18" charset="0"/>
            </a:endParaRPr>
          </a:p>
          <a:p>
            <a:r>
              <a:rPr lang="en-US" sz="1600" dirty="0">
                <a:effectLst/>
                <a:latin typeface="Times New Roman" panose="02020603050405020304" pitchFamily="18" charset="0"/>
                <a:ea typeface="Times New Roman" panose="02020603050405020304" pitchFamily="18" charset="0"/>
              </a:rPr>
              <a:t> </a:t>
            </a:r>
            <a:endParaRPr lang="en-IN" sz="1600" dirty="0">
              <a:effectLst/>
              <a:latin typeface="Times New Roman" panose="02020603050405020304" pitchFamily="18" charset="0"/>
              <a:ea typeface="Times New Roman" panose="02020603050405020304" pitchFamily="18" charset="0"/>
            </a:endParaRPr>
          </a:p>
          <a:p>
            <a:r>
              <a:rPr lang="en-US" sz="1600" dirty="0">
                <a:effectLst/>
                <a:latin typeface="Times New Roman" panose="02020603050405020304" pitchFamily="18" charset="0"/>
                <a:ea typeface="Times New Roman" panose="02020603050405020304" pitchFamily="18" charset="0"/>
              </a:rPr>
              <a:t>int set = 40;</a:t>
            </a:r>
            <a:endParaRPr lang="en-IN" sz="1600" dirty="0">
              <a:effectLst/>
              <a:latin typeface="Times New Roman" panose="02020603050405020304" pitchFamily="18" charset="0"/>
              <a:ea typeface="Times New Roman" panose="02020603050405020304" pitchFamily="18" charset="0"/>
            </a:endParaRPr>
          </a:p>
          <a:p>
            <a:r>
              <a:rPr lang="en-US" sz="1600" dirty="0">
                <a:effectLst/>
                <a:latin typeface="Times New Roman" panose="02020603050405020304" pitchFamily="18" charset="0"/>
                <a:ea typeface="Times New Roman" panose="02020603050405020304" pitchFamily="18" charset="0"/>
              </a:rPr>
              <a:t> </a:t>
            </a:r>
            <a:endParaRPr lang="en-IN" sz="1600" dirty="0">
              <a:effectLst/>
              <a:latin typeface="Times New Roman" panose="02020603050405020304" pitchFamily="18" charset="0"/>
              <a:ea typeface="Times New Roman" panose="02020603050405020304" pitchFamily="18" charset="0"/>
            </a:endParaRPr>
          </a:p>
          <a:p>
            <a:r>
              <a:rPr lang="en-US" sz="1600" dirty="0">
                <a:effectLst/>
                <a:latin typeface="Times New Roman" panose="02020603050405020304" pitchFamily="18" charset="0"/>
                <a:ea typeface="Times New Roman" panose="02020603050405020304" pitchFamily="18" charset="0"/>
              </a:rPr>
              <a:t>void setup() {</a:t>
            </a:r>
            <a:endParaRPr lang="en-IN" sz="1600" dirty="0">
              <a:effectLst/>
              <a:latin typeface="Times New Roman" panose="02020603050405020304" pitchFamily="18" charset="0"/>
              <a:ea typeface="Times New Roman" panose="02020603050405020304" pitchFamily="18" charset="0"/>
            </a:endParaRPr>
          </a:p>
          <a:p>
            <a:r>
              <a:rPr lang="en-US" sz="1600" dirty="0">
                <a:effectLst/>
                <a:latin typeface="Times New Roman" panose="02020603050405020304" pitchFamily="18" charset="0"/>
                <a:ea typeface="Times New Roman" panose="02020603050405020304" pitchFamily="18" charset="0"/>
              </a:rPr>
              <a:t>  </a:t>
            </a:r>
            <a:r>
              <a:rPr lang="en-US" sz="1600" dirty="0" err="1">
                <a:effectLst/>
                <a:latin typeface="Times New Roman" panose="02020603050405020304" pitchFamily="18" charset="0"/>
                <a:ea typeface="Times New Roman" panose="02020603050405020304" pitchFamily="18" charset="0"/>
              </a:rPr>
              <a:t>Serial.begin</a:t>
            </a:r>
            <a:r>
              <a:rPr lang="en-US" sz="1600" dirty="0">
                <a:effectLst/>
                <a:latin typeface="Times New Roman" panose="02020603050405020304" pitchFamily="18" charset="0"/>
                <a:ea typeface="Times New Roman" panose="02020603050405020304" pitchFamily="18" charset="0"/>
              </a:rPr>
              <a:t>(9600);           // Initialize serial port</a:t>
            </a:r>
            <a:endParaRPr lang="en-IN" sz="1600" dirty="0">
              <a:effectLst/>
              <a:latin typeface="Times New Roman" panose="02020603050405020304" pitchFamily="18" charset="0"/>
              <a:ea typeface="Times New Roman" panose="02020603050405020304" pitchFamily="18" charset="0"/>
            </a:endParaRPr>
          </a:p>
          <a:p>
            <a:r>
              <a:rPr lang="en-US" sz="1600" dirty="0">
                <a:effectLst/>
                <a:latin typeface="Times New Roman" panose="02020603050405020304" pitchFamily="18" charset="0"/>
                <a:ea typeface="Times New Roman" panose="02020603050405020304" pitchFamily="18" charset="0"/>
              </a:rPr>
              <a:t>  </a:t>
            </a:r>
            <a:r>
              <a:rPr lang="en-US" sz="1600" dirty="0" err="1">
                <a:effectLst/>
                <a:latin typeface="Times New Roman" panose="02020603050405020304" pitchFamily="18" charset="0"/>
                <a:ea typeface="Times New Roman" panose="02020603050405020304" pitchFamily="18" charset="0"/>
              </a:rPr>
              <a:t>Serial.println</a:t>
            </a:r>
            <a:r>
              <a:rPr lang="en-US" sz="1600" dirty="0">
                <a:effectLst/>
                <a:latin typeface="Times New Roman" panose="02020603050405020304" pitchFamily="18" charset="0"/>
                <a:ea typeface="Times New Roman" panose="02020603050405020304" pitchFamily="18" charset="0"/>
              </a:rPr>
              <a:t>("Start");</a:t>
            </a:r>
            <a:endParaRPr lang="en-IN" sz="1600" dirty="0">
              <a:effectLst/>
              <a:latin typeface="Times New Roman" panose="02020603050405020304" pitchFamily="18" charset="0"/>
              <a:ea typeface="Times New Roman" panose="02020603050405020304" pitchFamily="18" charset="0"/>
            </a:endParaRPr>
          </a:p>
          <a:p>
            <a:r>
              <a:rPr lang="en-US" sz="1600" dirty="0">
                <a:effectLst/>
                <a:latin typeface="Times New Roman" panose="02020603050405020304" pitchFamily="18" charset="0"/>
                <a:ea typeface="Times New Roman" panose="02020603050405020304" pitchFamily="18" charset="0"/>
              </a:rPr>
              <a:t> </a:t>
            </a:r>
            <a:endParaRPr lang="en-IN" sz="1600" dirty="0">
              <a:effectLst/>
              <a:latin typeface="Times New Roman" panose="02020603050405020304" pitchFamily="18" charset="0"/>
              <a:ea typeface="Times New Roman" panose="02020603050405020304" pitchFamily="18" charset="0"/>
            </a:endParaRPr>
          </a:p>
          <a:p>
            <a:r>
              <a:rPr lang="en-US" sz="1600" dirty="0">
                <a:effectLst/>
                <a:latin typeface="Times New Roman" panose="02020603050405020304" pitchFamily="18" charset="0"/>
                <a:ea typeface="Times New Roman" panose="02020603050405020304" pitchFamily="18" charset="0"/>
              </a:rPr>
              <a:t>  </a:t>
            </a:r>
            <a:r>
              <a:rPr lang="en-US" sz="1600" dirty="0" err="1">
                <a:effectLst/>
                <a:latin typeface="Times New Roman" panose="02020603050405020304" pitchFamily="18" charset="0"/>
                <a:ea typeface="Times New Roman" panose="02020603050405020304" pitchFamily="18" charset="0"/>
              </a:rPr>
              <a:t>myservo.attach</a:t>
            </a:r>
            <a:r>
              <a:rPr lang="en-US" sz="1600" dirty="0">
                <a:effectLst/>
                <a:latin typeface="Times New Roman" panose="02020603050405020304" pitchFamily="18" charset="0"/>
                <a:ea typeface="Times New Roman" panose="02020603050405020304" pitchFamily="18" charset="0"/>
              </a:rPr>
              <a:t>(10);</a:t>
            </a:r>
            <a:endParaRPr lang="en-IN" sz="1600" dirty="0">
              <a:effectLst/>
              <a:latin typeface="Times New Roman" panose="02020603050405020304" pitchFamily="18" charset="0"/>
              <a:ea typeface="Times New Roman" panose="02020603050405020304" pitchFamily="18" charset="0"/>
            </a:endParaRPr>
          </a:p>
          <a:p>
            <a:r>
              <a:rPr lang="en-US" sz="1600" dirty="0">
                <a:effectLst/>
                <a:latin typeface="Times New Roman" panose="02020603050405020304" pitchFamily="18" charset="0"/>
                <a:ea typeface="Times New Roman" panose="02020603050405020304" pitchFamily="18" charset="0"/>
              </a:rPr>
              <a:t>  </a:t>
            </a:r>
            <a:r>
              <a:rPr lang="en-US" sz="1600" dirty="0" err="1">
                <a:effectLst/>
                <a:latin typeface="Times New Roman" panose="02020603050405020304" pitchFamily="18" charset="0"/>
                <a:ea typeface="Times New Roman" panose="02020603050405020304" pitchFamily="18" charset="0"/>
              </a:rPr>
              <a:t>myservo.write</a:t>
            </a:r>
            <a:r>
              <a:rPr lang="en-US" sz="1600" dirty="0">
                <a:effectLst/>
                <a:latin typeface="Times New Roman" panose="02020603050405020304" pitchFamily="18" charset="0"/>
                <a:ea typeface="Times New Roman" panose="02020603050405020304" pitchFamily="18" charset="0"/>
              </a:rPr>
              <a:t>(90);</a:t>
            </a:r>
            <a:endParaRPr lang="en-IN" sz="1600" dirty="0">
              <a:effectLst/>
              <a:latin typeface="Times New Roman" panose="02020603050405020304" pitchFamily="18" charset="0"/>
              <a:ea typeface="Times New Roman" panose="02020603050405020304" pitchFamily="18" charset="0"/>
            </a:endParaRPr>
          </a:p>
          <a:p>
            <a:r>
              <a:rPr lang="en-US" sz="1600" dirty="0">
                <a:effectLst/>
                <a:latin typeface="Times New Roman" panose="02020603050405020304" pitchFamily="18" charset="0"/>
                <a:ea typeface="Times New Roman" panose="02020603050405020304" pitchFamily="18" charset="0"/>
              </a:rPr>
              <a:t> </a:t>
            </a:r>
            <a:endParaRPr lang="en-IN" sz="1600" dirty="0">
              <a:effectLst/>
              <a:latin typeface="Times New Roman" panose="02020603050405020304" pitchFamily="18" charset="0"/>
              <a:ea typeface="Times New Roman" panose="02020603050405020304" pitchFamily="18" charset="0"/>
            </a:endParaRPr>
          </a:p>
          <a:p>
            <a:r>
              <a:rPr lang="en-US" sz="1600" dirty="0">
                <a:effectLst/>
                <a:latin typeface="Times New Roman" panose="02020603050405020304" pitchFamily="18" charset="0"/>
                <a:ea typeface="Times New Roman" panose="02020603050405020304" pitchFamily="18" charset="0"/>
              </a:rPr>
              <a:t>  </a:t>
            </a:r>
            <a:r>
              <a:rPr lang="en-US" sz="1600" dirty="0" err="1">
                <a:effectLst/>
                <a:latin typeface="Times New Roman" panose="02020603050405020304" pitchFamily="18" charset="0"/>
                <a:ea typeface="Times New Roman" panose="02020603050405020304" pitchFamily="18" charset="0"/>
              </a:rPr>
              <a:t>pinMode</a:t>
            </a:r>
            <a:r>
              <a:rPr lang="en-US" sz="1600" dirty="0">
                <a:effectLst/>
                <a:latin typeface="Times New Roman" panose="02020603050405020304" pitchFamily="18" charset="0"/>
                <a:ea typeface="Times New Roman" panose="02020603050405020304" pitchFamily="18" charset="0"/>
              </a:rPr>
              <a:t> (</a:t>
            </a:r>
            <a:r>
              <a:rPr lang="en-US" sz="1600" dirty="0" err="1">
                <a:effectLst/>
                <a:latin typeface="Times New Roman" panose="02020603050405020304" pitchFamily="18" charset="0"/>
                <a:ea typeface="Times New Roman" panose="02020603050405020304" pitchFamily="18" charset="0"/>
              </a:rPr>
              <a:t>trigpin</a:t>
            </a:r>
            <a:r>
              <a:rPr lang="en-US" sz="1600" dirty="0">
                <a:effectLst/>
                <a:latin typeface="Times New Roman" panose="02020603050405020304" pitchFamily="18" charset="0"/>
                <a:ea typeface="Times New Roman" panose="02020603050405020304" pitchFamily="18" charset="0"/>
              </a:rPr>
              <a:t>, OUTPUT);</a:t>
            </a:r>
            <a:endParaRPr lang="en-IN" sz="1600" dirty="0">
              <a:effectLst/>
              <a:latin typeface="Times New Roman" panose="02020603050405020304" pitchFamily="18" charset="0"/>
              <a:ea typeface="Times New Roman" panose="02020603050405020304" pitchFamily="18" charset="0"/>
            </a:endParaRPr>
          </a:p>
          <a:p>
            <a:r>
              <a:rPr lang="en-US" sz="1600" dirty="0">
                <a:effectLst/>
                <a:latin typeface="Times New Roman" panose="02020603050405020304" pitchFamily="18" charset="0"/>
                <a:ea typeface="Times New Roman" panose="02020603050405020304" pitchFamily="18" charset="0"/>
              </a:rPr>
              <a:t>  </a:t>
            </a:r>
            <a:r>
              <a:rPr lang="en-US" sz="1600" dirty="0" err="1">
                <a:effectLst/>
                <a:latin typeface="Times New Roman" panose="02020603050405020304" pitchFamily="18" charset="0"/>
                <a:ea typeface="Times New Roman" panose="02020603050405020304" pitchFamily="18" charset="0"/>
              </a:rPr>
              <a:t>pinMode</a:t>
            </a:r>
            <a:r>
              <a:rPr lang="en-US" sz="1600" dirty="0">
                <a:effectLst/>
                <a:latin typeface="Times New Roman" panose="02020603050405020304" pitchFamily="18" charset="0"/>
                <a:ea typeface="Times New Roman" panose="02020603050405020304" pitchFamily="18" charset="0"/>
              </a:rPr>
              <a:t> (</a:t>
            </a:r>
            <a:r>
              <a:rPr lang="en-US" sz="1600" dirty="0" err="1">
                <a:effectLst/>
                <a:latin typeface="Times New Roman" panose="02020603050405020304" pitchFamily="18" charset="0"/>
                <a:ea typeface="Times New Roman" panose="02020603050405020304" pitchFamily="18" charset="0"/>
              </a:rPr>
              <a:t>echopin</a:t>
            </a:r>
            <a:r>
              <a:rPr lang="en-US" sz="1600" dirty="0">
                <a:effectLst/>
                <a:latin typeface="Times New Roman" panose="02020603050405020304" pitchFamily="18" charset="0"/>
                <a:ea typeface="Times New Roman" panose="02020603050405020304" pitchFamily="18" charset="0"/>
              </a:rPr>
              <a:t>, INPUT );</a:t>
            </a:r>
            <a:endParaRPr lang="en-IN" sz="1600" dirty="0">
              <a:effectLst/>
              <a:latin typeface="Times New Roman" panose="02020603050405020304" pitchFamily="18" charset="0"/>
              <a:ea typeface="Times New Roman" panose="02020603050405020304" pitchFamily="18" charset="0"/>
            </a:endParaRPr>
          </a:p>
          <a:p>
            <a:r>
              <a:rPr lang="en-US" sz="1600" dirty="0">
                <a:effectLst/>
                <a:latin typeface="Times New Roman" panose="02020603050405020304" pitchFamily="18" charset="0"/>
                <a:ea typeface="Times New Roman" panose="02020603050405020304" pitchFamily="18" charset="0"/>
              </a:rPr>
              <a:t>  </a:t>
            </a:r>
            <a:endParaRPr lang="en-IN" sz="1600" dirty="0">
              <a:effectLst/>
              <a:latin typeface="Times New Roman" panose="02020603050405020304" pitchFamily="18" charset="0"/>
              <a:ea typeface="Times New Roman" panose="02020603050405020304" pitchFamily="18" charset="0"/>
            </a:endParaRPr>
          </a:p>
          <a:p>
            <a:r>
              <a:rPr lang="en-US" sz="1600" dirty="0">
                <a:effectLst/>
                <a:latin typeface="Times New Roman" panose="02020603050405020304" pitchFamily="18" charset="0"/>
                <a:ea typeface="Times New Roman" panose="02020603050405020304" pitchFamily="18" charset="0"/>
              </a:rPr>
              <a:t>  motor1.setSpeed(255);          // set the motor speed to 0-255</a:t>
            </a:r>
            <a:endParaRPr lang="en-IN" sz="1600" dirty="0">
              <a:effectLst/>
              <a:latin typeface="Times New Roman" panose="02020603050405020304" pitchFamily="18" charset="0"/>
              <a:ea typeface="Times New Roman" panose="02020603050405020304" pitchFamily="18" charset="0"/>
            </a:endParaRPr>
          </a:p>
          <a:p>
            <a:r>
              <a:rPr lang="en-US" sz="1600" dirty="0">
                <a:effectLst/>
                <a:latin typeface="Times New Roman" panose="02020603050405020304" pitchFamily="18" charset="0"/>
                <a:ea typeface="Times New Roman" panose="02020603050405020304" pitchFamily="18" charset="0"/>
              </a:rPr>
              <a:t>  motor2.setSpeed(255);</a:t>
            </a:r>
            <a:endParaRPr lang="en-IN" sz="1600" dirty="0">
              <a:effectLst/>
              <a:latin typeface="Times New Roman" panose="02020603050405020304" pitchFamily="18" charset="0"/>
              <a:ea typeface="Times New Roman" panose="02020603050405020304" pitchFamily="18" charset="0"/>
            </a:endParaRPr>
          </a:p>
          <a:p>
            <a:r>
              <a:rPr lang="en-US" sz="1600" dirty="0">
                <a:effectLst/>
                <a:latin typeface="Times New Roman" panose="02020603050405020304" pitchFamily="18" charset="0"/>
                <a:ea typeface="Times New Roman" panose="02020603050405020304" pitchFamily="18" charset="0"/>
              </a:rPr>
              <a:t>  motor3.setSpeed(255);</a:t>
            </a:r>
            <a:endParaRPr lang="en-IN" sz="1600" dirty="0">
              <a:effectLst/>
              <a:latin typeface="Times New Roman" panose="02020603050405020304" pitchFamily="18" charset="0"/>
              <a:ea typeface="Times New Roman" panose="02020603050405020304" pitchFamily="18" charset="0"/>
            </a:endParaRPr>
          </a:p>
          <a:p>
            <a:r>
              <a:rPr lang="en-US" sz="1600" dirty="0">
                <a:effectLst/>
                <a:latin typeface="Times New Roman" panose="02020603050405020304" pitchFamily="18" charset="0"/>
                <a:ea typeface="Times New Roman" panose="02020603050405020304" pitchFamily="18" charset="0"/>
              </a:rPr>
              <a:t>  motor4.setSpeed(255);</a:t>
            </a:r>
            <a:endParaRPr lang="en-IN" sz="1600" dirty="0">
              <a:effectLst/>
              <a:latin typeface="Times New Roman" panose="02020603050405020304" pitchFamily="18" charset="0"/>
              <a:ea typeface="Times New Roman" panose="02020603050405020304" pitchFamily="18" charset="0"/>
            </a:endParaRPr>
          </a:p>
          <a:p>
            <a:r>
              <a:rPr lang="en-US" sz="1600" dirty="0">
                <a:effectLst/>
                <a:latin typeface="Times New Roman" panose="02020603050405020304" pitchFamily="18" charset="0"/>
                <a:ea typeface="Times New Roman" panose="02020603050405020304" pitchFamily="18" charset="0"/>
              </a:rPr>
              <a:t>}</a:t>
            </a:r>
            <a:endParaRPr lang="en-IN" sz="1600" dirty="0"/>
          </a:p>
        </p:txBody>
      </p:sp>
    </p:spTree>
    <p:extLst>
      <p:ext uri="{BB962C8B-B14F-4D97-AF65-F5344CB8AC3E}">
        <p14:creationId xmlns:p14="http://schemas.microsoft.com/office/powerpoint/2010/main" val="23694067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a:extLst>
              <a:ext uri="{FF2B5EF4-FFF2-40B4-BE49-F238E27FC236}">
                <a16:creationId xmlns:a16="http://schemas.microsoft.com/office/drawing/2014/main" id="{EDBDD9F1-4BE1-0A23-40A4-0FB5D114C005}"/>
              </a:ext>
            </a:extLst>
          </p:cNvPr>
          <p:cNvSpPr txBox="1">
            <a:spLocks noChangeArrowheads="1"/>
          </p:cNvSpPr>
          <p:nvPr/>
        </p:nvSpPr>
        <p:spPr bwMode="auto">
          <a:xfrm>
            <a:off x="3067066" y="357153"/>
            <a:ext cx="4902835" cy="6709529"/>
          </a:xfrm>
          <a:prstGeom prst="rect">
            <a:avLst/>
          </a:prstGeom>
          <a:noFill/>
          <a:ln w="9525">
            <a:noFill/>
            <a:miter lim="800000"/>
            <a:headEnd/>
            <a:tailEnd/>
          </a:ln>
        </p:spPr>
        <p:txBody>
          <a:bodyPr rot="0" vert="horz" wrap="square" lIns="91440" tIns="45720" rIns="91440" bIns="45720" anchor="t" anchorCtr="0">
            <a:spAutoFit/>
          </a:bodyPr>
          <a:lstStyle/>
          <a:p>
            <a:r>
              <a:rPr lang="en-US" sz="1400" dirty="0">
                <a:effectLst/>
                <a:latin typeface="Times New Roman" panose="02020603050405020304" pitchFamily="18" charset="0"/>
                <a:ea typeface="Times New Roman" panose="02020603050405020304" pitchFamily="18" charset="0"/>
              </a:rPr>
              <a:t>//===============================================================================</a:t>
            </a:r>
            <a:endParaRPr lang="en-IN" sz="1400" dirty="0">
              <a:effectLst/>
              <a:latin typeface="Times New Roman" panose="02020603050405020304" pitchFamily="18" charset="0"/>
              <a:ea typeface="Times New Roman" panose="02020603050405020304" pitchFamily="18" charset="0"/>
            </a:endParaRPr>
          </a:p>
          <a:p>
            <a:r>
              <a:rPr lang="en-US" sz="1400" dirty="0">
                <a:effectLst/>
                <a:latin typeface="Times New Roman" panose="02020603050405020304" pitchFamily="18" charset="0"/>
                <a:ea typeface="Times New Roman" panose="02020603050405020304" pitchFamily="18" charset="0"/>
              </a:rPr>
              <a:t>//  Main</a:t>
            </a:r>
            <a:endParaRPr lang="en-IN" sz="1400" dirty="0">
              <a:effectLst/>
              <a:latin typeface="Times New Roman" panose="02020603050405020304" pitchFamily="18" charset="0"/>
              <a:ea typeface="Times New Roman" panose="02020603050405020304" pitchFamily="18" charset="0"/>
            </a:endParaRPr>
          </a:p>
          <a:p>
            <a:r>
              <a:rPr lang="en-US" sz="1400" dirty="0">
                <a:effectLst/>
                <a:latin typeface="Times New Roman" panose="02020603050405020304" pitchFamily="18" charset="0"/>
                <a:ea typeface="Times New Roman" panose="02020603050405020304" pitchFamily="18" charset="0"/>
              </a:rPr>
              <a:t>//=============================================================================== </a:t>
            </a:r>
            <a:endParaRPr lang="en-IN" sz="1400" dirty="0">
              <a:effectLst/>
              <a:latin typeface="Times New Roman" panose="02020603050405020304" pitchFamily="18" charset="0"/>
              <a:ea typeface="Times New Roman" panose="02020603050405020304" pitchFamily="18" charset="0"/>
            </a:endParaRPr>
          </a:p>
          <a:p>
            <a:r>
              <a:rPr lang="en-US" sz="1400" dirty="0">
                <a:effectLst/>
                <a:latin typeface="Times New Roman" panose="02020603050405020304" pitchFamily="18" charset="0"/>
                <a:ea typeface="Times New Roman" panose="02020603050405020304" pitchFamily="18" charset="0"/>
              </a:rPr>
              <a:t>void loop() {</a:t>
            </a:r>
            <a:endParaRPr lang="en-IN" sz="1400" dirty="0">
              <a:effectLst/>
              <a:latin typeface="Times New Roman" panose="02020603050405020304" pitchFamily="18" charset="0"/>
              <a:ea typeface="Times New Roman" panose="02020603050405020304" pitchFamily="18" charset="0"/>
            </a:endParaRPr>
          </a:p>
          <a:p>
            <a:r>
              <a:rPr lang="en-US" sz="1400" dirty="0">
                <a:effectLst/>
                <a:latin typeface="Times New Roman" panose="02020603050405020304" pitchFamily="18" charset="0"/>
                <a:ea typeface="Times New Roman" panose="02020603050405020304" pitchFamily="18" charset="0"/>
              </a:rPr>
              <a:t> </a:t>
            </a:r>
            <a:endParaRPr lang="en-IN" sz="1400" dirty="0">
              <a:effectLst/>
              <a:latin typeface="Times New Roman" panose="02020603050405020304" pitchFamily="18" charset="0"/>
              <a:ea typeface="Times New Roman" panose="02020603050405020304" pitchFamily="18" charset="0"/>
            </a:endParaRPr>
          </a:p>
          <a:p>
            <a:r>
              <a:rPr lang="en-US" sz="1400" dirty="0">
                <a:effectLst/>
                <a:latin typeface="Times New Roman" panose="02020603050405020304" pitchFamily="18" charset="0"/>
                <a:ea typeface="Times New Roman" panose="02020603050405020304" pitchFamily="18" charset="0"/>
              </a:rPr>
              <a:t> </a:t>
            </a:r>
            <a:r>
              <a:rPr lang="en-US" sz="1400" dirty="0" err="1">
                <a:effectLst/>
                <a:latin typeface="Times New Roman" panose="02020603050405020304" pitchFamily="18" charset="0"/>
                <a:ea typeface="Times New Roman" panose="02020603050405020304" pitchFamily="18" charset="0"/>
              </a:rPr>
              <a:t>distance_F</a:t>
            </a:r>
            <a:r>
              <a:rPr lang="en-US" sz="1400" dirty="0">
                <a:effectLst/>
                <a:latin typeface="Times New Roman" panose="02020603050405020304" pitchFamily="18" charset="0"/>
                <a:ea typeface="Times New Roman" panose="02020603050405020304" pitchFamily="18" charset="0"/>
              </a:rPr>
              <a:t> = data();</a:t>
            </a:r>
            <a:endParaRPr lang="en-IN" sz="1400" dirty="0">
              <a:effectLst/>
              <a:latin typeface="Times New Roman" panose="02020603050405020304" pitchFamily="18" charset="0"/>
              <a:ea typeface="Times New Roman" panose="02020603050405020304" pitchFamily="18" charset="0"/>
            </a:endParaRPr>
          </a:p>
          <a:p>
            <a:r>
              <a:rPr lang="en-US" sz="1400" dirty="0">
                <a:effectLst/>
                <a:latin typeface="Times New Roman" panose="02020603050405020304" pitchFamily="18" charset="0"/>
                <a:ea typeface="Times New Roman" panose="02020603050405020304" pitchFamily="18" charset="0"/>
              </a:rPr>
              <a:t> </a:t>
            </a:r>
            <a:r>
              <a:rPr lang="en-US" sz="1400" dirty="0" err="1">
                <a:effectLst/>
                <a:latin typeface="Times New Roman" panose="02020603050405020304" pitchFamily="18" charset="0"/>
                <a:ea typeface="Times New Roman" panose="02020603050405020304" pitchFamily="18" charset="0"/>
              </a:rPr>
              <a:t>Serial.print</a:t>
            </a:r>
            <a:r>
              <a:rPr lang="en-US" sz="1400" dirty="0">
                <a:effectLst/>
                <a:latin typeface="Times New Roman" panose="02020603050405020304" pitchFamily="18" charset="0"/>
                <a:ea typeface="Times New Roman" panose="02020603050405020304" pitchFamily="18" charset="0"/>
              </a:rPr>
              <a:t>("S=");</a:t>
            </a:r>
            <a:endParaRPr lang="en-IN" sz="1400" dirty="0">
              <a:effectLst/>
              <a:latin typeface="Times New Roman" panose="02020603050405020304" pitchFamily="18" charset="0"/>
              <a:ea typeface="Times New Roman" panose="02020603050405020304" pitchFamily="18" charset="0"/>
            </a:endParaRPr>
          </a:p>
          <a:p>
            <a:r>
              <a:rPr lang="en-US" sz="1400" dirty="0">
                <a:effectLst/>
                <a:latin typeface="Times New Roman" panose="02020603050405020304" pitchFamily="18" charset="0"/>
                <a:ea typeface="Times New Roman" panose="02020603050405020304" pitchFamily="18" charset="0"/>
              </a:rPr>
              <a:t> </a:t>
            </a:r>
            <a:r>
              <a:rPr lang="en-US" sz="1400" dirty="0" err="1">
                <a:effectLst/>
                <a:latin typeface="Times New Roman" panose="02020603050405020304" pitchFamily="18" charset="0"/>
                <a:ea typeface="Times New Roman" panose="02020603050405020304" pitchFamily="18" charset="0"/>
              </a:rPr>
              <a:t>Serial.println</a:t>
            </a:r>
            <a:r>
              <a:rPr lang="en-US" sz="1400" dirty="0">
                <a:effectLst/>
                <a:latin typeface="Times New Roman" panose="02020603050405020304" pitchFamily="18" charset="0"/>
                <a:ea typeface="Times New Roman" panose="02020603050405020304" pitchFamily="18" charset="0"/>
              </a:rPr>
              <a:t>(</a:t>
            </a:r>
            <a:r>
              <a:rPr lang="en-US" sz="1400" dirty="0" err="1">
                <a:effectLst/>
                <a:latin typeface="Times New Roman" panose="02020603050405020304" pitchFamily="18" charset="0"/>
                <a:ea typeface="Times New Roman" panose="02020603050405020304" pitchFamily="18" charset="0"/>
              </a:rPr>
              <a:t>distance_F</a:t>
            </a:r>
            <a:r>
              <a:rPr lang="en-US" sz="1400" dirty="0">
                <a:effectLst/>
                <a:latin typeface="Times New Roman" panose="02020603050405020304" pitchFamily="18" charset="0"/>
                <a:ea typeface="Times New Roman" panose="02020603050405020304" pitchFamily="18" charset="0"/>
              </a:rPr>
              <a:t>);</a:t>
            </a:r>
            <a:endParaRPr lang="en-IN" sz="1400" dirty="0">
              <a:effectLst/>
              <a:latin typeface="Times New Roman" panose="02020603050405020304" pitchFamily="18" charset="0"/>
              <a:ea typeface="Times New Roman" panose="02020603050405020304" pitchFamily="18" charset="0"/>
            </a:endParaRPr>
          </a:p>
          <a:p>
            <a:r>
              <a:rPr lang="en-US" sz="1400" dirty="0">
                <a:effectLst/>
                <a:latin typeface="Times New Roman" panose="02020603050405020304" pitchFamily="18" charset="0"/>
                <a:ea typeface="Times New Roman" panose="02020603050405020304" pitchFamily="18" charset="0"/>
              </a:rPr>
              <a:t>  if (</a:t>
            </a:r>
            <a:r>
              <a:rPr lang="en-US" sz="1400" dirty="0" err="1">
                <a:effectLst/>
                <a:latin typeface="Times New Roman" panose="02020603050405020304" pitchFamily="18" charset="0"/>
                <a:ea typeface="Times New Roman" panose="02020603050405020304" pitchFamily="18" charset="0"/>
              </a:rPr>
              <a:t>distance_F</a:t>
            </a:r>
            <a:r>
              <a:rPr lang="en-US" sz="1400" dirty="0">
                <a:effectLst/>
                <a:latin typeface="Times New Roman" panose="02020603050405020304" pitchFamily="18" charset="0"/>
                <a:ea typeface="Times New Roman" panose="02020603050405020304" pitchFamily="18" charset="0"/>
              </a:rPr>
              <a:t> &gt; set){</a:t>
            </a:r>
            <a:endParaRPr lang="en-IN" sz="1400" dirty="0">
              <a:effectLst/>
              <a:latin typeface="Times New Roman" panose="02020603050405020304" pitchFamily="18" charset="0"/>
              <a:ea typeface="Times New Roman" panose="02020603050405020304" pitchFamily="18" charset="0"/>
            </a:endParaRPr>
          </a:p>
          <a:p>
            <a:r>
              <a:rPr lang="en-US" sz="1400" dirty="0">
                <a:effectLst/>
                <a:latin typeface="Times New Roman" panose="02020603050405020304" pitchFamily="18" charset="0"/>
                <a:ea typeface="Times New Roman" panose="02020603050405020304" pitchFamily="18" charset="0"/>
              </a:rPr>
              <a:t>   </a:t>
            </a:r>
            <a:r>
              <a:rPr lang="en-US" sz="1400" dirty="0" err="1">
                <a:effectLst/>
                <a:latin typeface="Times New Roman" panose="02020603050405020304" pitchFamily="18" charset="0"/>
                <a:ea typeface="Times New Roman" panose="02020603050405020304" pitchFamily="18" charset="0"/>
              </a:rPr>
              <a:t>Serial.println</a:t>
            </a:r>
            <a:r>
              <a:rPr lang="en-US" sz="1400" dirty="0">
                <a:effectLst/>
                <a:latin typeface="Times New Roman" panose="02020603050405020304" pitchFamily="18" charset="0"/>
                <a:ea typeface="Times New Roman" panose="02020603050405020304" pitchFamily="18" charset="0"/>
              </a:rPr>
              <a:t>("Forward");</a:t>
            </a:r>
            <a:endParaRPr lang="en-IN" sz="1400" dirty="0">
              <a:effectLst/>
              <a:latin typeface="Times New Roman" panose="02020603050405020304" pitchFamily="18" charset="0"/>
              <a:ea typeface="Times New Roman" panose="02020603050405020304" pitchFamily="18" charset="0"/>
            </a:endParaRPr>
          </a:p>
          <a:p>
            <a:r>
              <a:rPr lang="en-US" sz="1400" dirty="0">
                <a:effectLst/>
                <a:latin typeface="Times New Roman" panose="02020603050405020304" pitchFamily="18" charset="0"/>
                <a:ea typeface="Times New Roman" panose="02020603050405020304" pitchFamily="18" charset="0"/>
              </a:rPr>
              <a:t>  motor1.run(FORWARD);         // turn it on going forward</a:t>
            </a:r>
            <a:endParaRPr lang="en-IN" sz="1400" dirty="0">
              <a:effectLst/>
              <a:latin typeface="Times New Roman" panose="02020603050405020304" pitchFamily="18" charset="0"/>
              <a:ea typeface="Times New Roman" panose="02020603050405020304" pitchFamily="18" charset="0"/>
            </a:endParaRPr>
          </a:p>
          <a:p>
            <a:r>
              <a:rPr lang="en-US" sz="1400" dirty="0">
                <a:effectLst/>
                <a:latin typeface="Times New Roman" panose="02020603050405020304" pitchFamily="18" charset="0"/>
                <a:ea typeface="Times New Roman" panose="02020603050405020304" pitchFamily="18" charset="0"/>
              </a:rPr>
              <a:t>  motor2.run(FORWARD); </a:t>
            </a:r>
            <a:endParaRPr lang="en-IN" sz="1400" dirty="0">
              <a:effectLst/>
              <a:latin typeface="Times New Roman" panose="02020603050405020304" pitchFamily="18" charset="0"/>
              <a:ea typeface="Times New Roman" panose="02020603050405020304" pitchFamily="18" charset="0"/>
            </a:endParaRPr>
          </a:p>
          <a:p>
            <a:r>
              <a:rPr lang="en-US" sz="1400" dirty="0">
                <a:effectLst/>
                <a:latin typeface="Times New Roman" panose="02020603050405020304" pitchFamily="18" charset="0"/>
                <a:ea typeface="Times New Roman" panose="02020603050405020304" pitchFamily="18" charset="0"/>
              </a:rPr>
              <a:t>  motor3.run(FORWARD); </a:t>
            </a:r>
            <a:endParaRPr lang="en-IN" sz="1400" dirty="0">
              <a:effectLst/>
              <a:latin typeface="Times New Roman" panose="02020603050405020304" pitchFamily="18" charset="0"/>
              <a:ea typeface="Times New Roman" panose="02020603050405020304" pitchFamily="18" charset="0"/>
            </a:endParaRPr>
          </a:p>
          <a:p>
            <a:r>
              <a:rPr lang="en-US" sz="1400" dirty="0">
                <a:effectLst/>
                <a:latin typeface="Times New Roman" panose="02020603050405020304" pitchFamily="18" charset="0"/>
                <a:ea typeface="Times New Roman" panose="02020603050405020304" pitchFamily="18" charset="0"/>
              </a:rPr>
              <a:t>  motor4.run(FORWARD);</a:t>
            </a:r>
            <a:endParaRPr lang="en-IN" sz="1400" dirty="0">
              <a:effectLst/>
              <a:latin typeface="Times New Roman" panose="02020603050405020304" pitchFamily="18" charset="0"/>
              <a:ea typeface="Times New Roman" panose="02020603050405020304" pitchFamily="18" charset="0"/>
            </a:endParaRPr>
          </a:p>
          <a:p>
            <a:r>
              <a:rPr lang="en-US" sz="1400" dirty="0">
                <a:effectLst/>
                <a:latin typeface="Times New Roman" panose="02020603050405020304" pitchFamily="18" charset="0"/>
                <a:ea typeface="Times New Roman" panose="02020603050405020304" pitchFamily="18" charset="0"/>
              </a:rPr>
              <a:t>    }</a:t>
            </a:r>
            <a:endParaRPr lang="en-IN" sz="1400" dirty="0">
              <a:effectLst/>
              <a:latin typeface="Times New Roman" panose="02020603050405020304" pitchFamily="18" charset="0"/>
              <a:ea typeface="Times New Roman" panose="02020603050405020304" pitchFamily="18" charset="0"/>
            </a:endParaRPr>
          </a:p>
          <a:p>
            <a:r>
              <a:rPr lang="en-US" sz="1400" dirty="0">
                <a:effectLst/>
                <a:latin typeface="Times New Roman" panose="02020603050405020304" pitchFamily="18" charset="0"/>
                <a:ea typeface="Times New Roman" panose="02020603050405020304" pitchFamily="18" charset="0"/>
              </a:rPr>
              <a:t>    else{hc_sr4();}</a:t>
            </a:r>
            <a:endParaRPr lang="en-IN" sz="1400" dirty="0">
              <a:effectLst/>
              <a:latin typeface="Times New Roman" panose="02020603050405020304" pitchFamily="18" charset="0"/>
              <a:ea typeface="Times New Roman" panose="02020603050405020304" pitchFamily="18" charset="0"/>
            </a:endParaRPr>
          </a:p>
          <a:p>
            <a:r>
              <a:rPr lang="en-US" sz="1400" dirty="0">
                <a:effectLst/>
                <a:latin typeface="Times New Roman" panose="02020603050405020304" pitchFamily="18" charset="0"/>
                <a:ea typeface="Times New Roman" panose="02020603050405020304" pitchFamily="18" charset="0"/>
              </a:rPr>
              <a:t>}</a:t>
            </a:r>
            <a:endParaRPr lang="en-IN" sz="1400" dirty="0">
              <a:effectLst/>
              <a:latin typeface="Times New Roman" panose="02020603050405020304" pitchFamily="18" charset="0"/>
              <a:ea typeface="Times New Roman" panose="02020603050405020304" pitchFamily="18" charset="0"/>
            </a:endParaRPr>
          </a:p>
          <a:p>
            <a:r>
              <a:rPr lang="en-US" sz="1400" dirty="0">
                <a:effectLst/>
                <a:latin typeface="Times New Roman" panose="02020603050405020304" pitchFamily="18" charset="0"/>
                <a:ea typeface="Times New Roman" panose="02020603050405020304" pitchFamily="18" charset="0"/>
              </a:rPr>
              <a:t> </a:t>
            </a:r>
            <a:endParaRPr lang="en-IN" sz="1400" dirty="0">
              <a:effectLst/>
              <a:latin typeface="Times New Roman" panose="02020603050405020304" pitchFamily="18" charset="0"/>
              <a:ea typeface="Times New Roman" panose="02020603050405020304" pitchFamily="18" charset="0"/>
            </a:endParaRPr>
          </a:p>
          <a:p>
            <a:r>
              <a:rPr lang="en-US" sz="1400" dirty="0">
                <a:effectLst/>
                <a:latin typeface="Times New Roman" panose="02020603050405020304" pitchFamily="18" charset="0"/>
                <a:ea typeface="Times New Roman" panose="02020603050405020304" pitchFamily="18" charset="0"/>
              </a:rPr>
              <a:t> </a:t>
            </a:r>
            <a:endParaRPr lang="en-IN" sz="1400" dirty="0">
              <a:effectLst/>
              <a:latin typeface="Times New Roman" panose="02020603050405020304" pitchFamily="18" charset="0"/>
              <a:ea typeface="Times New Roman" panose="02020603050405020304" pitchFamily="18" charset="0"/>
            </a:endParaRPr>
          </a:p>
          <a:p>
            <a:r>
              <a:rPr lang="en-US" sz="1400" dirty="0">
                <a:effectLst/>
                <a:latin typeface="Times New Roman" panose="02020603050405020304" pitchFamily="18" charset="0"/>
                <a:ea typeface="Times New Roman" panose="02020603050405020304" pitchFamily="18" charset="0"/>
              </a:rPr>
              <a:t>long data(){</a:t>
            </a:r>
            <a:endParaRPr lang="en-IN" sz="1400" dirty="0">
              <a:effectLst/>
              <a:latin typeface="Times New Roman" panose="02020603050405020304" pitchFamily="18" charset="0"/>
              <a:ea typeface="Times New Roman" panose="02020603050405020304" pitchFamily="18" charset="0"/>
            </a:endParaRPr>
          </a:p>
          <a:p>
            <a:r>
              <a:rPr lang="en-US" sz="1400" dirty="0">
                <a:effectLst/>
                <a:latin typeface="Times New Roman" panose="02020603050405020304" pitchFamily="18" charset="0"/>
                <a:ea typeface="Times New Roman" panose="02020603050405020304" pitchFamily="18" charset="0"/>
              </a:rPr>
              <a:t>  </a:t>
            </a:r>
            <a:r>
              <a:rPr lang="en-US" sz="1400" dirty="0" err="1">
                <a:effectLst/>
                <a:latin typeface="Times New Roman" panose="02020603050405020304" pitchFamily="18" charset="0"/>
                <a:ea typeface="Times New Roman" panose="02020603050405020304" pitchFamily="18" charset="0"/>
              </a:rPr>
              <a:t>digitalWrite</a:t>
            </a:r>
            <a:r>
              <a:rPr lang="en-US" sz="1400" dirty="0">
                <a:effectLst/>
                <a:latin typeface="Times New Roman" panose="02020603050405020304" pitchFamily="18" charset="0"/>
                <a:ea typeface="Times New Roman" panose="02020603050405020304" pitchFamily="18" charset="0"/>
              </a:rPr>
              <a:t>(</a:t>
            </a:r>
            <a:r>
              <a:rPr lang="en-US" sz="1400" dirty="0" err="1">
                <a:effectLst/>
                <a:latin typeface="Times New Roman" panose="02020603050405020304" pitchFamily="18" charset="0"/>
                <a:ea typeface="Times New Roman" panose="02020603050405020304" pitchFamily="18" charset="0"/>
              </a:rPr>
              <a:t>trigpin</a:t>
            </a:r>
            <a:r>
              <a:rPr lang="en-US" sz="1400" dirty="0">
                <a:effectLst/>
                <a:latin typeface="Times New Roman" panose="02020603050405020304" pitchFamily="18" charset="0"/>
                <a:ea typeface="Times New Roman" panose="02020603050405020304" pitchFamily="18" charset="0"/>
              </a:rPr>
              <a:t>, LOW);</a:t>
            </a:r>
            <a:endParaRPr lang="en-IN" sz="1400" dirty="0">
              <a:effectLst/>
              <a:latin typeface="Times New Roman" panose="02020603050405020304" pitchFamily="18" charset="0"/>
              <a:ea typeface="Times New Roman" panose="02020603050405020304" pitchFamily="18" charset="0"/>
            </a:endParaRPr>
          </a:p>
          <a:p>
            <a:r>
              <a:rPr lang="en-US" sz="1400" dirty="0">
                <a:effectLst/>
                <a:latin typeface="Times New Roman" panose="02020603050405020304" pitchFamily="18" charset="0"/>
                <a:ea typeface="Times New Roman" panose="02020603050405020304" pitchFamily="18" charset="0"/>
              </a:rPr>
              <a:t>  </a:t>
            </a:r>
            <a:r>
              <a:rPr lang="en-US" sz="1400" dirty="0" err="1">
                <a:effectLst/>
                <a:latin typeface="Times New Roman" panose="02020603050405020304" pitchFamily="18" charset="0"/>
                <a:ea typeface="Times New Roman" panose="02020603050405020304" pitchFamily="18" charset="0"/>
              </a:rPr>
              <a:t>delayMicroseconds</a:t>
            </a:r>
            <a:r>
              <a:rPr lang="en-US" sz="1400" dirty="0">
                <a:effectLst/>
                <a:latin typeface="Times New Roman" panose="02020603050405020304" pitchFamily="18" charset="0"/>
                <a:ea typeface="Times New Roman" panose="02020603050405020304" pitchFamily="18" charset="0"/>
              </a:rPr>
              <a:t>(2);</a:t>
            </a:r>
            <a:endParaRPr lang="en-IN" sz="1400" dirty="0">
              <a:effectLst/>
              <a:latin typeface="Times New Roman" panose="02020603050405020304" pitchFamily="18" charset="0"/>
              <a:ea typeface="Times New Roman" panose="02020603050405020304" pitchFamily="18" charset="0"/>
            </a:endParaRPr>
          </a:p>
          <a:p>
            <a:r>
              <a:rPr lang="en-US" sz="1400" dirty="0">
                <a:effectLst/>
                <a:latin typeface="Times New Roman" panose="02020603050405020304" pitchFamily="18" charset="0"/>
                <a:ea typeface="Times New Roman" panose="02020603050405020304" pitchFamily="18" charset="0"/>
              </a:rPr>
              <a:t>  </a:t>
            </a:r>
            <a:r>
              <a:rPr lang="en-US" sz="1400" dirty="0" err="1">
                <a:effectLst/>
                <a:latin typeface="Times New Roman" panose="02020603050405020304" pitchFamily="18" charset="0"/>
                <a:ea typeface="Times New Roman" panose="02020603050405020304" pitchFamily="18" charset="0"/>
              </a:rPr>
              <a:t>digitalWrite</a:t>
            </a:r>
            <a:r>
              <a:rPr lang="en-US" sz="1400" dirty="0">
                <a:effectLst/>
                <a:latin typeface="Times New Roman" panose="02020603050405020304" pitchFamily="18" charset="0"/>
                <a:ea typeface="Times New Roman" panose="02020603050405020304" pitchFamily="18" charset="0"/>
              </a:rPr>
              <a:t>(</a:t>
            </a:r>
            <a:r>
              <a:rPr lang="en-US" sz="1400" dirty="0" err="1">
                <a:effectLst/>
                <a:latin typeface="Times New Roman" panose="02020603050405020304" pitchFamily="18" charset="0"/>
                <a:ea typeface="Times New Roman" panose="02020603050405020304" pitchFamily="18" charset="0"/>
              </a:rPr>
              <a:t>trigpin</a:t>
            </a:r>
            <a:r>
              <a:rPr lang="en-US" sz="1400" dirty="0">
                <a:effectLst/>
                <a:latin typeface="Times New Roman" panose="02020603050405020304" pitchFamily="18" charset="0"/>
                <a:ea typeface="Times New Roman" panose="02020603050405020304" pitchFamily="18" charset="0"/>
              </a:rPr>
              <a:t>, HIGH);</a:t>
            </a:r>
            <a:endParaRPr lang="en-IN" sz="1400" dirty="0">
              <a:effectLst/>
              <a:latin typeface="Times New Roman" panose="02020603050405020304" pitchFamily="18" charset="0"/>
              <a:ea typeface="Times New Roman" panose="02020603050405020304" pitchFamily="18" charset="0"/>
            </a:endParaRPr>
          </a:p>
          <a:p>
            <a:r>
              <a:rPr lang="en-US" sz="1400" dirty="0">
                <a:effectLst/>
                <a:latin typeface="Times New Roman" panose="02020603050405020304" pitchFamily="18" charset="0"/>
                <a:ea typeface="Times New Roman" panose="02020603050405020304" pitchFamily="18" charset="0"/>
              </a:rPr>
              <a:t>  </a:t>
            </a:r>
            <a:r>
              <a:rPr lang="en-US" sz="1400" dirty="0" err="1">
                <a:effectLst/>
                <a:latin typeface="Times New Roman" panose="02020603050405020304" pitchFamily="18" charset="0"/>
                <a:ea typeface="Times New Roman" panose="02020603050405020304" pitchFamily="18" charset="0"/>
              </a:rPr>
              <a:t>delayMicroseconds</a:t>
            </a:r>
            <a:r>
              <a:rPr lang="en-US" sz="1400" dirty="0">
                <a:effectLst/>
                <a:latin typeface="Times New Roman" panose="02020603050405020304" pitchFamily="18" charset="0"/>
                <a:ea typeface="Times New Roman" panose="02020603050405020304" pitchFamily="18" charset="0"/>
              </a:rPr>
              <a:t>(10);</a:t>
            </a:r>
            <a:endParaRPr lang="en-IN" sz="1400" dirty="0">
              <a:effectLst/>
              <a:latin typeface="Times New Roman" panose="02020603050405020304" pitchFamily="18" charset="0"/>
              <a:ea typeface="Times New Roman" panose="02020603050405020304" pitchFamily="18" charset="0"/>
            </a:endParaRPr>
          </a:p>
          <a:p>
            <a:r>
              <a:rPr lang="en-US" sz="1400" dirty="0">
                <a:effectLst/>
                <a:latin typeface="Times New Roman" panose="02020603050405020304" pitchFamily="18" charset="0"/>
                <a:ea typeface="Times New Roman" panose="02020603050405020304" pitchFamily="18" charset="0"/>
              </a:rPr>
              <a:t>  distance = </a:t>
            </a:r>
            <a:r>
              <a:rPr lang="en-US" sz="1400" dirty="0" err="1">
                <a:effectLst/>
                <a:latin typeface="Times New Roman" panose="02020603050405020304" pitchFamily="18" charset="0"/>
                <a:ea typeface="Times New Roman" panose="02020603050405020304" pitchFamily="18" charset="0"/>
              </a:rPr>
              <a:t>pulseIn</a:t>
            </a:r>
            <a:r>
              <a:rPr lang="en-US" sz="1400" dirty="0">
                <a:effectLst/>
                <a:latin typeface="Times New Roman" panose="02020603050405020304" pitchFamily="18" charset="0"/>
                <a:ea typeface="Times New Roman" panose="02020603050405020304" pitchFamily="18" charset="0"/>
              </a:rPr>
              <a:t> (</a:t>
            </a:r>
            <a:r>
              <a:rPr lang="en-US" sz="1400" dirty="0" err="1">
                <a:effectLst/>
                <a:latin typeface="Times New Roman" panose="02020603050405020304" pitchFamily="18" charset="0"/>
                <a:ea typeface="Times New Roman" panose="02020603050405020304" pitchFamily="18" charset="0"/>
              </a:rPr>
              <a:t>echopin</a:t>
            </a:r>
            <a:r>
              <a:rPr lang="en-US" sz="1400" dirty="0">
                <a:effectLst/>
                <a:latin typeface="Times New Roman" panose="02020603050405020304" pitchFamily="18" charset="0"/>
                <a:ea typeface="Times New Roman" panose="02020603050405020304" pitchFamily="18" charset="0"/>
              </a:rPr>
              <a:t>, HIGH);</a:t>
            </a:r>
            <a:endParaRPr lang="en-IN" sz="1400" dirty="0">
              <a:effectLst/>
              <a:latin typeface="Times New Roman" panose="02020603050405020304" pitchFamily="18" charset="0"/>
              <a:ea typeface="Times New Roman" panose="02020603050405020304" pitchFamily="18" charset="0"/>
            </a:endParaRPr>
          </a:p>
          <a:p>
            <a:r>
              <a:rPr lang="en-US" sz="1400" dirty="0">
                <a:effectLst/>
                <a:latin typeface="Times New Roman" panose="02020603050405020304" pitchFamily="18" charset="0"/>
                <a:ea typeface="Times New Roman" panose="02020603050405020304" pitchFamily="18" charset="0"/>
              </a:rPr>
              <a:t>  return distance / 29 / 2;</a:t>
            </a:r>
            <a:endParaRPr lang="en-IN" sz="1400" dirty="0">
              <a:effectLst/>
              <a:latin typeface="Times New Roman" panose="02020603050405020304" pitchFamily="18" charset="0"/>
              <a:ea typeface="Times New Roman" panose="02020603050405020304" pitchFamily="18" charset="0"/>
            </a:endParaRPr>
          </a:p>
          <a:p>
            <a:r>
              <a:rPr lang="en-US" sz="1400" dirty="0">
                <a:effectLst/>
                <a:latin typeface="Times New Roman" panose="02020603050405020304" pitchFamily="18" charset="0"/>
                <a:ea typeface="Times New Roman" panose="02020603050405020304" pitchFamily="18" charset="0"/>
              </a:rPr>
              <a:t>}</a:t>
            </a:r>
            <a:endParaRPr lang="en-IN" sz="1400" dirty="0">
              <a:effectLst/>
              <a:latin typeface="Times New Roman" panose="02020603050405020304" pitchFamily="18" charset="0"/>
              <a:ea typeface="Times New Roman" panose="02020603050405020304" pitchFamily="18" charset="0"/>
            </a:endParaRPr>
          </a:p>
          <a:p>
            <a:r>
              <a:rPr lang="en-US" sz="800" dirty="0">
                <a:effectLst/>
                <a:latin typeface="Times New Roman" panose="02020603050405020304" pitchFamily="18" charset="0"/>
                <a:ea typeface="Times New Roman" panose="02020603050405020304" pitchFamily="18" charset="0"/>
              </a:rPr>
              <a:t> </a:t>
            </a:r>
            <a:endParaRPr lang="en-IN" sz="800" dirty="0">
              <a:effectLst/>
              <a:latin typeface="Times New Roman" panose="02020603050405020304" pitchFamily="18" charset="0"/>
              <a:ea typeface="Times New Roman" panose="02020603050405020304" pitchFamily="18" charset="0"/>
            </a:endParaRPr>
          </a:p>
          <a:p>
            <a:r>
              <a:rPr lang="en-US" sz="800" dirty="0">
                <a:effectLst/>
                <a:latin typeface="Times New Roman" panose="02020603050405020304" pitchFamily="18" charset="0"/>
                <a:ea typeface="Times New Roman" panose="02020603050405020304" pitchFamily="18" charset="0"/>
              </a:rPr>
              <a:t> </a:t>
            </a:r>
            <a:endParaRPr lang="en-IN" sz="800" dirty="0">
              <a:effectLst/>
              <a:latin typeface="Times New Roman" panose="02020603050405020304" pitchFamily="18" charset="0"/>
              <a:ea typeface="Times New Roman" panose="02020603050405020304" pitchFamily="18" charset="0"/>
            </a:endParaRPr>
          </a:p>
          <a:p>
            <a:endParaRPr lang="en-IN" sz="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5976481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27E8532-F101-6F71-2115-BD3F99FCAE6B}"/>
              </a:ext>
            </a:extLst>
          </p:cNvPr>
          <p:cNvSpPr txBox="1"/>
          <p:nvPr/>
        </p:nvSpPr>
        <p:spPr>
          <a:xfrm>
            <a:off x="3048000" y="474345"/>
            <a:ext cx="6096000" cy="5909310"/>
          </a:xfrm>
          <a:prstGeom prst="rect">
            <a:avLst/>
          </a:prstGeom>
          <a:noFill/>
        </p:spPr>
        <p:txBody>
          <a:bodyPr wrap="square">
            <a:spAutoFit/>
          </a:bodyPr>
          <a:lstStyle/>
          <a:p>
            <a:r>
              <a:rPr lang="en-US" sz="1800" dirty="0">
                <a:effectLst/>
                <a:latin typeface="Times New Roman" panose="02020603050405020304" pitchFamily="18" charset="0"/>
                <a:ea typeface="Times New Roman" panose="02020603050405020304" pitchFamily="18" charset="0"/>
              </a:rPr>
              <a:t>void </a:t>
            </a:r>
            <a:r>
              <a:rPr lang="en-US" sz="1800" dirty="0" err="1">
                <a:effectLst/>
                <a:latin typeface="Times New Roman" panose="02020603050405020304" pitchFamily="18" charset="0"/>
                <a:ea typeface="Times New Roman" panose="02020603050405020304" pitchFamily="18" charset="0"/>
              </a:rPr>
              <a:t>compareDistance</a:t>
            </a:r>
            <a:r>
              <a:rPr lang="en-US" sz="1800" dirty="0">
                <a:effectLst/>
                <a:latin typeface="Times New Roman" panose="02020603050405020304" pitchFamily="18" charset="0"/>
                <a:ea typeface="Times New Roman" panose="02020603050405020304" pitchFamily="18" charset="0"/>
              </a:rPr>
              <a:t>(){</a:t>
            </a:r>
            <a:endParaRPr lang="en-IN" sz="1800" dirty="0">
              <a:effectLst/>
              <a:latin typeface="Times New Roman" panose="02020603050405020304" pitchFamily="18"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  if (</a:t>
            </a:r>
            <a:r>
              <a:rPr lang="en-US" sz="1800" dirty="0" err="1">
                <a:effectLst/>
                <a:latin typeface="Times New Roman" panose="02020603050405020304" pitchFamily="18" charset="0"/>
                <a:ea typeface="Times New Roman" panose="02020603050405020304" pitchFamily="18" charset="0"/>
              </a:rPr>
              <a:t>distance_L</a:t>
            </a:r>
            <a:r>
              <a:rPr lang="en-US" sz="1800" dirty="0">
                <a:effectLst/>
                <a:latin typeface="Times New Roman" panose="02020603050405020304" pitchFamily="18" charset="0"/>
                <a:ea typeface="Times New Roman" panose="02020603050405020304" pitchFamily="18" charset="0"/>
              </a:rPr>
              <a:t> &gt; </a:t>
            </a:r>
            <a:r>
              <a:rPr lang="en-US" sz="1800" dirty="0" err="1">
                <a:effectLst/>
                <a:latin typeface="Times New Roman" panose="02020603050405020304" pitchFamily="18" charset="0"/>
                <a:ea typeface="Times New Roman" panose="02020603050405020304" pitchFamily="18" charset="0"/>
              </a:rPr>
              <a:t>distance_R</a:t>
            </a:r>
            <a:r>
              <a:rPr lang="en-US" sz="1800" dirty="0">
                <a:effectLst/>
                <a:latin typeface="Times New Roman" panose="02020603050405020304" pitchFamily="18" charset="0"/>
                <a:ea typeface="Times New Roman" panose="02020603050405020304" pitchFamily="18" charset="0"/>
              </a:rPr>
              <a:t>){</a:t>
            </a:r>
            <a:endParaRPr lang="en-IN" sz="1800" dirty="0">
              <a:effectLst/>
              <a:latin typeface="Times New Roman" panose="02020603050405020304" pitchFamily="18"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  motor1.run(BACKWARD);   // turn it on going left</a:t>
            </a:r>
            <a:endParaRPr lang="en-IN" sz="1800" dirty="0">
              <a:effectLst/>
              <a:latin typeface="Times New Roman" panose="02020603050405020304" pitchFamily="18"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  motor2.run(BACKWARD);</a:t>
            </a:r>
            <a:endParaRPr lang="en-IN" sz="1800" dirty="0">
              <a:effectLst/>
              <a:latin typeface="Times New Roman" panose="02020603050405020304" pitchFamily="18"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  motor3.run(FORWARD); </a:t>
            </a:r>
            <a:endParaRPr lang="en-IN" sz="1800" dirty="0">
              <a:effectLst/>
              <a:latin typeface="Times New Roman" panose="02020603050405020304" pitchFamily="18"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  motor4.run(FORWARD);</a:t>
            </a:r>
            <a:endParaRPr lang="en-IN" sz="1800" dirty="0">
              <a:effectLst/>
              <a:latin typeface="Times New Roman" panose="02020603050405020304" pitchFamily="18"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  delay(9*350);</a:t>
            </a:r>
            <a:endParaRPr lang="en-IN" sz="1800" dirty="0">
              <a:effectLst/>
              <a:latin typeface="Times New Roman" panose="02020603050405020304" pitchFamily="18"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  else{</a:t>
            </a:r>
            <a:endParaRPr lang="en-IN" sz="1800" dirty="0">
              <a:effectLst/>
              <a:latin typeface="Times New Roman" panose="02020603050405020304" pitchFamily="18"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    back();</a:t>
            </a:r>
            <a:endParaRPr lang="en-IN" sz="1800" dirty="0">
              <a:effectLst/>
              <a:latin typeface="Times New Roman" panose="02020603050405020304" pitchFamily="18"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  if (</a:t>
            </a:r>
            <a:r>
              <a:rPr lang="en-US" sz="1800" dirty="0" err="1">
                <a:effectLst/>
                <a:latin typeface="Times New Roman" panose="02020603050405020304" pitchFamily="18" charset="0"/>
                <a:ea typeface="Times New Roman" panose="02020603050405020304" pitchFamily="18" charset="0"/>
              </a:rPr>
              <a:t>distance_R</a:t>
            </a:r>
            <a:r>
              <a:rPr lang="en-US" sz="1800" dirty="0">
                <a:effectLst/>
                <a:latin typeface="Times New Roman" panose="02020603050405020304" pitchFamily="18" charset="0"/>
                <a:ea typeface="Times New Roman" panose="02020603050405020304" pitchFamily="18" charset="0"/>
              </a:rPr>
              <a:t> &gt; </a:t>
            </a:r>
            <a:r>
              <a:rPr lang="en-US" sz="1800" dirty="0" err="1">
                <a:effectLst/>
                <a:latin typeface="Times New Roman" panose="02020603050405020304" pitchFamily="18" charset="0"/>
                <a:ea typeface="Times New Roman" panose="02020603050405020304" pitchFamily="18" charset="0"/>
              </a:rPr>
              <a:t>distance_L</a:t>
            </a:r>
            <a:r>
              <a:rPr lang="en-US" sz="1800" dirty="0">
                <a:effectLst/>
                <a:latin typeface="Times New Roman" panose="02020603050405020304" pitchFamily="18" charset="0"/>
                <a:ea typeface="Times New Roman" panose="02020603050405020304" pitchFamily="18" charset="0"/>
              </a:rPr>
              <a:t>){</a:t>
            </a:r>
            <a:endParaRPr lang="en-IN" sz="1800" dirty="0">
              <a:effectLst/>
              <a:latin typeface="Times New Roman" panose="02020603050405020304" pitchFamily="18"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  motor1.run(FORWARD);  // the other right</a:t>
            </a:r>
            <a:endParaRPr lang="en-IN" sz="1800" dirty="0">
              <a:effectLst/>
              <a:latin typeface="Times New Roman" panose="02020603050405020304" pitchFamily="18"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  motor2.run(FORWARD); </a:t>
            </a:r>
            <a:endParaRPr lang="en-IN" sz="1800" dirty="0">
              <a:effectLst/>
              <a:latin typeface="Times New Roman" panose="02020603050405020304" pitchFamily="18"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  motor3.run(BACKWARD); </a:t>
            </a:r>
            <a:endParaRPr lang="en-IN" sz="1800" dirty="0">
              <a:effectLst/>
              <a:latin typeface="Times New Roman" panose="02020603050405020304" pitchFamily="18"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  motor4.run(BACKWARD);</a:t>
            </a:r>
            <a:endParaRPr lang="en-IN" sz="1800" dirty="0">
              <a:effectLst/>
              <a:latin typeface="Times New Roman" panose="02020603050405020304" pitchFamily="18"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  delay(9*350);</a:t>
            </a:r>
            <a:endParaRPr lang="en-IN" sz="1800" dirty="0">
              <a:effectLst/>
              <a:latin typeface="Times New Roman" panose="02020603050405020304" pitchFamily="18"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  else{</a:t>
            </a:r>
            <a:endParaRPr lang="en-IN" sz="1800" dirty="0">
              <a:effectLst/>
              <a:latin typeface="Times New Roman" panose="02020603050405020304" pitchFamily="18"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    back();</a:t>
            </a:r>
            <a:endParaRPr lang="en-IN" sz="1800" dirty="0">
              <a:effectLst/>
              <a:latin typeface="Times New Roman" panose="02020603050405020304" pitchFamily="18"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  }</a:t>
            </a:r>
            <a:endParaRPr lang="en-IN" dirty="0"/>
          </a:p>
        </p:txBody>
      </p:sp>
    </p:spTree>
    <p:extLst>
      <p:ext uri="{BB962C8B-B14F-4D97-AF65-F5344CB8AC3E}">
        <p14:creationId xmlns:p14="http://schemas.microsoft.com/office/powerpoint/2010/main" val="3335355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33DF9-36A6-4A47-5A92-AAFF322084FF}"/>
              </a:ext>
            </a:extLst>
          </p:cNvPr>
          <p:cNvSpPr>
            <a:spLocks noGrp="1"/>
          </p:cNvSpPr>
          <p:nvPr>
            <p:ph type="title"/>
          </p:nvPr>
        </p:nvSpPr>
        <p:spPr>
          <a:xfrm>
            <a:off x="3838076" y="352927"/>
            <a:ext cx="5113420" cy="697832"/>
          </a:xfrm>
        </p:spPr>
        <p:txBody>
          <a:bodyPr>
            <a:normAutofit/>
          </a:bodyPr>
          <a:lstStyle/>
          <a:p>
            <a:r>
              <a:rPr lang="en-IN" sz="2400" dirty="0"/>
              <a:t>EXPENDITURE STATEMENT</a:t>
            </a:r>
          </a:p>
        </p:txBody>
      </p:sp>
      <p:graphicFrame>
        <p:nvGraphicFramePr>
          <p:cNvPr id="3" name="Table 2">
            <a:extLst>
              <a:ext uri="{FF2B5EF4-FFF2-40B4-BE49-F238E27FC236}">
                <a16:creationId xmlns:a16="http://schemas.microsoft.com/office/drawing/2014/main" id="{53055269-E573-8279-6A50-34E49136CEE0}"/>
              </a:ext>
            </a:extLst>
          </p:cNvPr>
          <p:cNvGraphicFramePr>
            <a:graphicFrameLocks noGrp="1"/>
          </p:cNvGraphicFramePr>
          <p:nvPr>
            <p:extLst>
              <p:ext uri="{D42A27DB-BD31-4B8C-83A1-F6EECF244321}">
                <p14:modId xmlns:p14="http://schemas.microsoft.com/office/powerpoint/2010/main" val="3580566930"/>
              </p:ext>
            </p:extLst>
          </p:nvPr>
        </p:nvGraphicFramePr>
        <p:xfrm>
          <a:off x="2360753" y="1050759"/>
          <a:ext cx="7128152" cy="5133516"/>
        </p:xfrm>
        <a:graphic>
          <a:graphicData uri="http://schemas.openxmlformats.org/drawingml/2006/table">
            <a:tbl>
              <a:tblPr firstRow="1" firstCol="1" bandRow="1">
                <a:tableStyleId>{5940675A-B579-460E-94D1-54222C63F5DA}</a:tableStyleId>
              </a:tblPr>
              <a:tblGrid>
                <a:gridCol w="2155075">
                  <a:extLst>
                    <a:ext uri="{9D8B030D-6E8A-4147-A177-3AD203B41FA5}">
                      <a16:colId xmlns:a16="http://schemas.microsoft.com/office/drawing/2014/main" val="63679308"/>
                    </a:ext>
                  </a:extLst>
                </a:gridCol>
                <a:gridCol w="2893386">
                  <a:extLst>
                    <a:ext uri="{9D8B030D-6E8A-4147-A177-3AD203B41FA5}">
                      <a16:colId xmlns:a16="http://schemas.microsoft.com/office/drawing/2014/main" val="91893224"/>
                    </a:ext>
                  </a:extLst>
                </a:gridCol>
                <a:gridCol w="2079691">
                  <a:extLst>
                    <a:ext uri="{9D8B030D-6E8A-4147-A177-3AD203B41FA5}">
                      <a16:colId xmlns:a16="http://schemas.microsoft.com/office/drawing/2014/main" val="3254885814"/>
                    </a:ext>
                  </a:extLst>
                </a:gridCol>
              </a:tblGrid>
              <a:tr h="616440">
                <a:tc>
                  <a:txBody>
                    <a:bodyPr/>
                    <a:lstStyle/>
                    <a:p>
                      <a:pPr algn="ctr">
                        <a:tabLst>
                          <a:tab pos="834390" algn="l"/>
                        </a:tabLst>
                      </a:pPr>
                      <a:r>
                        <a:rPr lang="en-US" sz="900" dirty="0">
                          <a:ln>
                            <a:solidFill>
                              <a:schemeClr val="tx1"/>
                            </a:solidFill>
                          </a:ln>
                          <a:solidFill>
                            <a:schemeClr val="bg1"/>
                          </a:solidFill>
                          <a:effectLst/>
                        </a:rPr>
                        <a:t>NAME OF THE COMPONENT</a:t>
                      </a:r>
                      <a:endParaRPr lang="en-IN" sz="900" dirty="0">
                        <a:ln>
                          <a:solidFill>
                            <a:schemeClr val="tx1"/>
                          </a:solid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482" marR="53482" marT="0" marB="0" anchor="ctr"/>
                </a:tc>
                <a:tc>
                  <a:txBody>
                    <a:bodyPr/>
                    <a:lstStyle/>
                    <a:p>
                      <a:pPr algn="ctr">
                        <a:tabLst>
                          <a:tab pos="834390" algn="l"/>
                        </a:tabLst>
                      </a:pPr>
                      <a:r>
                        <a:rPr lang="en-US" sz="900">
                          <a:ln>
                            <a:solidFill>
                              <a:schemeClr val="tx1"/>
                            </a:solidFill>
                          </a:ln>
                          <a:solidFill>
                            <a:schemeClr val="bg1"/>
                          </a:solidFill>
                          <a:effectLst/>
                        </a:rPr>
                        <a:t>QUANTITY</a:t>
                      </a:r>
                      <a:endParaRPr lang="en-IN" sz="900">
                        <a:ln>
                          <a:solidFill>
                            <a:schemeClr val="tx1"/>
                          </a:solid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482" marR="53482" marT="0" marB="0" anchor="ctr"/>
                </a:tc>
                <a:tc>
                  <a:txBody>
                    <a:bodyPr/>
                    <a:lstStyle/>
                    <a:p>
                      <a:pPr algn="ctr">
                        <a:tabLst>
                          <a:tab pos="834390" algn="l"/>
                        </a:tabLst>
                      </a:pPr>
                      <a:r>
                        <a:rPr lang="en-US" sz="900">
                          <a:ln>
                            <a:solidFill>
                              <a:schemeClr val="tx1"/>
                            </a:solidFill>
                          </a:ln>
                          <a:solidFill>
                            <a:schemeClr val="bg1"/>
                          </a:solidFill>
                          <a:effectLst/>
                        </a:rPr>
                        <a:t>TOTAL PRICE OF THE QUANTITY</a:t>
                      </a:r>
                      <a:endParaRPr lang="en-IN" sz="900">
                        <a:ln>
                          <a:solidFill>
                            <a:schemeClr val="tx1"/>
                          </a:solid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482" marR="53482" marT="0" marB="0" anchor="ctr"/>
                </a:tc>
                <a:extLst>
                  <a:ext uri="{0D108BD9-81ED-4DB2-BD59-A6C34878D82A}">
                    <a16:rowId xmlns:a16="http://schemas.microsoft.com/office/drawing/2014/main" val="75406948"/>
                  </a:ext>
                </a:extLst>
              </a:tr>
              <a:tr h="296727">
                <a:tc>
                  <a:txBody>
                    <a:bodyPr/>
                    <a:lstStyle/>
                    <a:p>
                      <a:pPr algn="ctr">
                        <a:tabLst>
                          <a:tab pos="834390" algn="l"/>
                        </a:tabLst>
                      </a:pPr>
                      <a:r>
                        <a:rPr lang="en-US" sz="900" dirty="0">
                          <a:ln>
                            <a:solidFill>
                              <a:schemeClr val="tx1"/>
                            </a:solidFill>
                          </a:ln>
                          <a:solidFill>
                            <a:schemeClr val="bg1"/>
                          </a:solidFill>
                          <a:effectLst/>
                        </a:rPr>
                        <a:t>1.ARDUINO UNO</a:t>
                      </a:r>
                      <a:endParaRPr lang="en-IN" sz="900" dirty="0">
                        <a:ln>
                          <a:solidFill>
                            <a:schemeClr val="tx1"/>
                          </a:solid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482" marR="53482" marT="0" marB="0" anchor="ctr"/>
                </a:tc>
                <a:tc>
                  <a:txBody>
                    <a:bodyPr/>
                    <a:lstStyle/>
                    <a:p>
                      <a:pPr algn="ctr">
                        <a:tabLst>
                          <a:tab pos="834390" algn="l"/>
                        </a:tabLst>
                      </a:pPr>
                      <a:r>
                        <a:rPr lang="en-US" sz="900">
                          <a:ln>
                            <a:solidFill>
                              <a:schemeClr val="tx1"/>
                            </a:solidFill>
                          </a:ln>
                          <a:solidFill>
                            <a:schemeClr val="bg1"/>
                          </a:solidFill>
                          <a:effectLst/>
                        </a:rPr>
                        <a:t>1N</a:t>
                      </a:r>
                      <a:endParaRPr lang="en-IN" sz="900">
                        <a:ln>
                          <a:solidFill>
                            <a:schemeClr val="tx1"/>
                          </a:solid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482" marR="53482" marT="0" marB="0" anchor="ctr"/>
                </a:tc>
                <a:tc>
                  <a:txBody>
                    <a:bodyPr/>
                    <a:lstStyle/>
                    <a:p>
                      <a:pPr algn="ctr">
                        <a:tabLst>
                          <a:tab pos="834390" algn="l"/>
                        </a:tabLst>
                      </a:pPr>
                      <a:r>
                        <a:rPr lang="en-US" sz="900">
                          <a:ln>
                            <a:solidFill>
                              <a:schemeClr val="tx1"/>
                            </a:solidFill>
                          </a:ln>
                          <a:solidFill>
                            <a:schemeClr val="bg1"/>
                          </a:solidFill>
                          <a:effectLst/>
                        </a:rPr>
                        <a:t>600/-</a:t>
                      </a:r>
                      <a:endParaRPr lang="en-IN" sz="900">
                        <a:ln>
                          <a:solidFill>
                            <a:schemeClr val="tx1"/>
                          </a:solid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482" marR="53482" marT="0" marB="0" anchor="ctr"/>
                </a:tc>
                <a:extLst>
                  <a:ext uri="{0D108BD9-81ED-4DB2-BD59-A6C34878D82A}">
                    <a16:rowId xmlns:a16="http://schemas.microsoft.com/office/drawing/2014/main" val="1338861298"/>
                  </a:ext>
                </a:extLst>
              </a:tr>
              <a:tr h="401208">
                <a:tc>
                  <a:txBody>
                    <a:bodyPr/>
                    <a:lstStyle/>
                    <a:p>
                      <a:pPr algn="ctr">
                        <a:tabLst>
                          <a:tab pos="834390" algn="l"/>
                        </a:tabLst>
                      </a:pPr>
                      <a:r>
                        <a:rPr lang="en-US" sz="900" dirty="0">
                          <a:ln>
                            <a:solidFill>
                              <a:schemeClr val="tx1"/>
                            </a:solidFill>
                          </a:ln>
                          <a:solidFill>
                            <a:schemeClr val="bg1"/>
                          </a:solidFill>
                          <a:effectLst/>
                        </a:rPr>
                        <a:t>2.L293D MOTOR DRIVER</a:t>
                      </a:r>
                      <a:endParaRPr lang="en-IN" sz="900" dirty="0">
                        <a:ln>
                          <a:solidFill>
                            <a:schemeClr val="tx1"/>
                          </a:solid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482" marR="53482" marT="0" marB="0" anchor="ctr"/>
                </a:tc>
                <a:tc>
                  <a:txBody>
                    <a:bodyPr/>
                    <a:lstStyle/>
                    <a:p>
                      <a:pPr algn="ctr">
                        <a:tabLst>
                          <a:tab pos="834390" algn="l"/>
                        </a:tabLst>
                      </a:pPr>
                      <a:r>
                        <a:rPr lang="en-US" sz="900">
                          <a:ln>
                            <a:solidFill>
                              <a:schemeClr val="tx1"/>
                            </a:solidFill>
                          </a:ln>
                          <a:solidFill>
                            <a:schemeClr val="bg1"/>
                          </a:solidFill>
                          <a:effectLst/>
                        </a:rPr>
                        <a:t>1N</a:t>
                      </a:r>
                      <a:endParaRPr lang="en-IN" sz="900">
                        <a:ln>
                          <a:solidFill>
                            <a:schemeClr val="tx1"/>
                          </a:solid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482" marR="53482" marT="0" marB="0" anchor="ctr"/>
                </a:tc>
                <a:tc>
                  <a:txBody>
                    <a:bodyPr/>
                    <a:lstStyle/>
                    <a:p>
                      <a:pPr algn="ctr">
                        <a:tabLst>
                          <a:tab pos="834390" algn="l"/>
                        </a:tabLst>
                      </a:pPr>
                      <a:r>
                        <a:rPr lang="en-US" sz="900">
                          <a:ln>
                            <a:solidFill>
                              <a:schemeClr val="tx1"/>
                            </a:solidFill>
                          </a:ln>
                          <a:solidFill>
                            <a:schemeClr val="bg1"/>
                          </a:solidFill>
                          <a:effectLst/>
                        </a:rPr>
                        <a:t>250/-</a:t>
                      </a:r>
                      <a:endParaRPr lang="en-IN" sz="900">
                        <a:ln>
                          <a:solidFill>
                            <a:schemeClr val="tx1"/>
                          </a:solid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482" marR="53482" marT="0" marB="0" anchor="ctr"/>
                </a:tc>
                <a:extLst>
                  <a:ext uri="{0D108BD9-81ED-4DB2-BD59-A6C34878D82A}">
                    <a16:rowId xmlns:a16="http://schemas.microsoft.com/office/drawing/2014/main" val="208320971"/>
                  </a:ext>
                </a:extLst>
              </a:tr>
              <a:tr h="401208">
                <a:tc>
                  <a:txBody>
                    <a:bodyPr/>
                    <a:lstStyle/>
                    <a:p>
                      <a:pPr algn="ctr">
                        <a:tabLst>
                          <a:tab pos="834390" algn="l"/>
                        </a:tabLst>
                      </a:pPr>
                      <a:r>
                        <a:rPr lang="en-US" sz="900">
                          <a:ln>
                            <a:solidFill>
                              <a:schemeClr val="tx1"/>
                            </a:solidFill>
                          </a:ln>
                          <a:solidFill>
                            <a:schemeClr val="bg1"/>
                          </a:solidFill>
                          <a:effectLst/>
                        </a:rPr>
                        <a:t>3.ULTRASONIC SENSOR</a:t>
                      </a:r>
                      <a:endParaRPr lang="en-IN" sz="900">
                        <a:ln>
                          <a:solidFill>
                            <a:schemeClr val="tx1"/>
                          </a:solid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482" marR="53482" marT="0" marB="0" anchor="ctr"/>
                </a:tc>
                <a:tc>
                  <a:txBody>
                    <a:bodyPr/>
                    <a:lstStyle/>
                    <a:p>
                      <a:pPr algn="ctr">
                        <a:tabLst>
                          <a:tab pos="834390" algn="l"/>
                        </a:tabLst>
                      </a:pPr>
                      <a:r>
                        <a:rPr lang="en-US" sz="900" dirty="0">
                          <a:ln>
                            <a:solidFill>
                              <a:schemeClr val="tx1"/>
                            </a:solidFill>
                          </a:ln>
                          <a:solidFill>
                            <a:schemeClr val="bg1"/>
                          </a:solidFill>
                          <a:effectLst/>
                        </a:rPr>
                        <a:t>1N</a:t>
                      </a:r>
                      <a:endParaRPr lang="en-IN" sz="900" dirty="0">
                        <a:ln>
                          <a:solidFill>
                            <a:schemeClr val="tx1"/>
                          </a:solid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482" marR="53482" marT="0" marB="0" anchor="ctr"/>
                </a:tc>
                <a:tc>
                  <a:txBody>
                    <a:bodyPr/>
                    <a:lstStyle/>
                    <a:p>
                      <a:pPr algn="ctr">
                        <a:tabLst>
                          <a:tab pos="834390" algn="l"/>
                        </a:tabLst>
                      </a:pPr>
                      <a:r>
                        <a:rPr lang="en-US" sz="900">
                          <a:ln>
                            <a:solidFill>
                              <a:schemeClr val="tx1"/>
                            </a:solidFill>
                          </a:ln>
                          <a:solidFill>
                            <a:schemeClr val="bg1"/>
                          </a:solidFill>
                          <a:effectLst/>
                        </a:rPr>
                        <a:t>75/-</a:t>
                      </a:r>
                      <a:endParaRPr lang="en-IN" sz="900">
                        <a:ln>
                          <a:solidFill>
                            <a:schemeClr val="tx1"/>
                          </a:solid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482" marR="53482" marT="0" marB="0" anchor="ctr"/>
                </a:tc>
                <a:extLst>
                  <a:ext uri="{0D108BD9-81ED-4DB2-BD59-A6C34878D82A}">
                    <a16:rowId xmlns:a16="http://schemas.microsoft.com/office/drawing/2014/main" val="452279239"/>
                  </a:ext>
                </a:extLst>
              </a:tr>
              <a:tr h="307872">
                <a:tc>
                  <a:txBody>
                    <a:bodyPr/>
                    <a:lstStyle/>
                    <a:p>
                      <a:pPr algn="ctr">
                        <a:tabLst>
                          <a:tab pos="834390" algn="l"/>
                        </a:tabLst>
                      </a:pPr>
                      <a:r>
                        <a:rPr lang="en-US" sz="900">
                          <a:ln>
                            <a:solidFill>
                              <a:schemeClr val="tx1"/>
                            </a:solidFill>
                          </a:ln>
                          <a:solidFill>
                            <a:schemeClr val="bg1"/>
                          </a:solidFill>
                          <a:effectLst/>
                        </a:rPr>
                        <a:t>4.SERVO MOTOR</a:t>
                      </a:r>
                      <a:endParaRPr lang="en-IN" sz="900">
                        <a:ln>
                          <a:solidFill>
                            <a:schemeClr val="tx1"/>
                          </a:solid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482" marR="53482" marT="0" marB="0" anchor="ctr"/>
                </a:tc>
                <a:tc>
                  <a:txBody>
                    <a:bodyPr/>
                    <a:lstStyle/>
                    <a:p>
                      <a:pPr algn="ctr">
                        <a:tabLst>
                          <a:tab pos="834390" algn="l"/>
                        </a:tabLst>
                      </a:pPr>
                      <a:r>
                        <a:rPr lang="en-US" sz="900">
                          <a:ln>
                            <a:solidFill>
                              <a:schemeClr val="tx1"/>
                            </a:solidFill>
                          </a:ln>
                          <a:solidFill>
                            <a:schemeClr val="bg1"/>
                          </a:solidFill>
                          <a:effectLst/>
                        </a:rPr>
                        <a:t>1N</a:t>
                      </a:r>
                      <a:endParaRPr lang="en-IN" sz="900">
                        <a:ln>
                          <a:solidFill>
                            <a:schemeClr val="tx1"/>
                          </a:solid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482" marR="53482" marT="0" marB="0" anchor="ctr"/>
                </a:tc>
                <a:tc>
                  <a:txBody>
                    <a:bodyPr/>
                    <a:lstStyle/>
                    <a:p>
                      <a:pPr algn="ctr">
                        <a:tabLst>
                          <a:tab pos="834390" algn="l"/>
                        </a:tabLst>
                      </a:pPr>
                      <a:r>
                        <a:rPr lang="en-US" sz="900">
                          <a:ln>
                            <a:solidFill>
                              <a:schemeClr val="tx1"/>
                            </a:solidFill>
                          </a:ln>
                          <a:solidFill>
                            <a:schemeClr val="bg1"/>
                          </a:solidFill>
                          <a:effectLst/>
                        </a:rPr>
                        <a:t>100/-</a:t>
                      </a:r>
                      <a:endParaRPr lang="en-IN" sz="900">
                        <a:ln>
                          <a:solidFill>
                            <a:schemeClr val="tx1"/>
                          </a:solid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482" marR="53482" marT="0" marB="0" anchor="ctr"/>
                </a:tc>
                <a:extLst>
                  <a:ext uri="{0D108BD9-81ED-4DB2-BD59-A6C34878D82A}">
                    <a16:rowId xmlns:a16="http://schemas.microsoft.com/office/drawing/2014/main" val="3115443457"/>
                  </a:ext>
                </a:extLst>
              </a:tr>
              <a:tr h="307872">
                <a:tc>
                  <a:txBody>
                    <a:bodyPr/>
                    <a:lstStyle/>
                    <a:p>
                      <a:pPr algn="ctr">
                        <a:tabLst>
                          <a:tab pos="834390" algn="l"/>
                        </a:tabLst>
                      </a:pPr>
                      <a:r>
                        <a:rPr lang="en-US" sz="900">
                          <a:ln>
                            <a:solidFill>
                              <a:schemeClr val="tx1"/>
                            </a:solidFill>
                          </a:ln>
                          <a:solidFill>
                            <a:schemeClr val="bg1"/>
                          </a:solidFill>
                          <a:effectLst/>
                        </a:rPr>
                        <a:t>5.WOODEN PLANK</a:t>
                      </a:r>
                      <a:endParaRPr lang="en-IN" sz="900">
                        <a:ln>
                          <a:solidFill>
                            <a:schemeClr val="tx1"/>
                          </a:solid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482" marR="53482" marT="0" marB="0" anchor="ctr"/>
                </a:tc>
                <a:tc>
                  <a:txBody>
                    <a:bodyPr/>
                    <a:lstStyle/>
                    <a:p>
                      <a:pPr algn="ctr">
                        <a:tabLst>
                          <a:tab pos="834390" algn="l"/>
                        </a:tabLst>
                      </a:pPr>
                      <a:r>
                        <a:rPr lang="en-US" sz="900" dirty="0">
                          <a:ln>
                            <a:solidFill>
                              <a:schemeClr val="tx1"/>
                            </a:solidFill>
                          </a:ln>
                          <a:solidFill>
                            <a:schemeClr val="bg1"/>
                          </a:solidFill>
                          <a:effectLst/>
                        </a:rPr>
                        <a:t>1N</a:t>
                      </a:r>
                      <a:endParaRPr lang="en-IN" sz="900" dirty="0">
                        <a:ln>
                          <a:solidFill>
                            <a:schemeClr val="tx1"/>
                          </a:solid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482" marR="53482" marT="0" marB="0" anchor="ctr"/>
                </a:tc>
                <a:tc>
                  <a:txBody>
                    <a:bodyPr/>
                    <a:lstStyle/>
                    <a:p>
                      <a:pPr algn="ctr">
                        <a:tabLst>
                          <a:tab pos="834390" algn="l"/>
                        </a:tabLst>
                      </a:pPr>
                      <a:r>
                        <a:rPr lang="en-US" sz="900">
                          <a:ln>
                            <a:solidFill>
                              <a:schemeClr val="tx1"/>
                            </a:solidFill>
                          </a:ln>
                          <a:solidFill>
                            <a:schemeClr val="bg1"/>
                          </a:solidFill>
                          <a:effectLst/>
                        </a:rPr>
                        <a:t>200/-</a:t>
                      </a:r>
                      <a:endParaRPr lang="en-IN" sz="900">
                        <a:ln>
                          <a:solidFill>
                            <a:schemeClr val="tx1"/>
                          </a:solid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482" marR="53482" marT="0" marB="0" anchor="ctr"/>
                </a:tc>
                <a:extLst>
                  <a:ext uri="{0D108BD9-81ED-4DB2-BD59-A6C34878D82A}">
                    <a16:rowId xmlns:a16="http://schemas.microsoft.com/office/drawing/2014/main" val="1150912559"/>
                  </a:ext>
                </a:extLst>
              </a:tr>
              <a:tr h="307872">
                <a:tc>
                  <a:txBody>
                    <a:bodyPr/>
                    <a:lstStyle/>
                    <a:p>
                      <a:pPr algn="ctr">
                        <a:tabLst>
                          <a:tab pos="834390" algn="l"/>
                        </a:tabLst>
                      </a:pPr>
                      <a:r>
                        <a:rPr lang="en-US" sz="900">
                          <a:ln>
                            <a:solidFill>
                              <a:schemeClr val="tx1"/>
                            </a:solidFill>
                          </a:ln>
                          <a:solidFill>
                            <a:schemeClr val="bg1"/>
                          </a:solidFill>
                          <a:effectLst/>
                        </a:rPr>
                        <a:t>6.ARDUINO CABLE</a:t>
                      </a:r>
                      <a:endParaRPr lang="en-IN" sz="900">
                        <a:ln>
                          <a:solidFill>
                            <a:schemeClr val="tx1"/>
                          </a:solid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482" marR="53482" marT="0" marB="0" anchor="ctr"/>
                </a:tc>
                <a:tc>
                  <a:txBody>
                    <a:bodyPr/>
                    <a:lstStyle/>
                    <a:p>
                      <a:pPr algn="ctr">
                        <a:tabLst>
                          <a:tab pos="834390" algn="l"/>
                        </a:tabLst>
                      </a:pPr>
                      <a:r>
                        <a:rPr lang="en-US" sz="900" dirty="0">
                          <a:ln>
                            <a:solidFill>
                              <a:schemeClr val="tx1"/>
                            </a:solidFill>
                          </a:ln>
                          <a:solidFill>
                            <a:schemeClr val="bg1"/>
                          </a:solidFill>
                          <a:effectLst/>
                        </a:rPr>
                        <a:t>1N</a:t>
                      </a:r>
                      <a:endParaRPr lang="en-IN" sz="900" dirty="0">
                        <a:ln>
                          <a:solidFill>
                            <a:schemeClr val="tx1"/>
                          </a:solid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482" marR="53482" marT="0" marB="0" anchor="ctr"/>
                </a:tc>
                <a:tc>
                  <a:txBody>
                    <a:bodyPr/>
                    <a:lstStyle/>
                    <a:p>
                      <a:pPr algn="ctr">
                        <a:tabLst>
                          <a:tab pos="834390" algn="l"/>
                        </a:tabLst>
                      </a:pPr>
                      <a:r>
                        <a:rPr lang="en-US" sz="900">
                          <a:ln>
                            <a:solidFill>
                              <a:schemeClr val="tx1"/>
                            </a:solidFill>
                          </a:ln>
                          <a:solidFill>
                            <a:schemeClr val="bg1"/>
                          </a:solidFill>
                          <a:effectLst/>
                        </a:rPr>
                        <a:t>100/-</a:t>
                      </a:r>
                      <a:endParaRPr lang="en-IN" sz="900">
                        <a:ln>
                          <a:solidFill>
                            <a:schemeClr val="tx1"/>
                          </a:solid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482" marR="53482" marT="0" marB="0" anchor="ctr"/>
                </a:tc>
                <a:extLst>
                  <a:ext uri="{0D108BD9-81ED-4DB2-BD59-A6C34878D82A}">
                    <a16:rowId xmlns:a16="http://schemas.microsoft.com/office/drawing/2014/main" val="3051561109"/>
                  </a:ext>
                </a:extLst>
              </a:tr>
              <a:tr h="604598">
                <a:tc>
                  <a:txBody>
                    <a:bodyPr/>
                    <a:lstStyle/>
                    <a:p>
                      <a:pPr algn="ctr">
                        <a:tabLst>
                          <a:tab pos="834390" algn="l"/>
                        </a:tabLst>
                      </a:pPr>
                      <a:r>
                        <a:rPr lang="en-US" sz="900" dirty="0">
                          <a:ln>
                            <a:solidFill>
                              <a:schemeClr val="tx1"/>
                            </a:solidFill>
                          </a:ln>
                          <a:solidFill>
                            <a:schemeClr val="bg1"/>
                          </a:solidFill>
                          <a:effectLst/>
                        </a:rPr>
                        <a:t>7.12V,30RPM DC GEARED MOTOR</a:t>
                      </a:r>
                      <a:endParaRPr lang="en-IN" sz="900" dirty="0">
                        <a:ln>
                          <a:solidFill>
                            <a:schemeClr val="tx1"/>
                          </a:solid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482" marR="53482" marT="0" marB="0" anchor="ctr"/>
                </a:tc>
                <a:tc>
                  <a:txBody>
                    <a:bodyPr/>
                    <a:lstStyle/>
                    <a:p>
                      <a:pPr algn="ctr">
                        <a:tabLst>
                          <a:tab pos="834390" algn="l"/>
                        </a:tabLst>
                      </a:pPr>
                      <a:r>
                        <a:rPr lang="en-US" sz="900" dirty="0">
                          <a:ln>
                            <a:solidFill>
                              <a:schemeClr val="tx1"/>
                            </a:solidFill>
                          </a:ln>
                          <a:solidFill>
                            <a:schemeClr val="bg1"/>
                          </a:solidFill>
                          <a:effectLst/>
                        </a:rPr>
                        <a:t>4N</a:t>
                      </a:r>
                      <a:endParaRPr lang="en-IN" sz="900" dirty="0">
                        <a:ln>
                          <a:solidFill>
                            <a:schemeClr val="tx1"/>
                          </a:solid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482" marR="53482" marT="0" marB="0" anchor="ctr"/>
                </a:tc>
                <a:tc>
                  <a:txBody>
                    <a:bodyPr/>
                    <a:lstStyle/>
                    <a:p>
                      <a:pPr algn="ctr">
                        <a:tabLst>
                          <a:tab pos="834390" algn="l"/>
                        </a:tabLst>
                      </a:pPr>
                      <a:r>
                        <a:rPr lang="en-US" sz="900" dirty="0">
                          <a:ln>
                            <a:solidFill>
                              <a:schemeClr val="tx1"/>
                            </a:solidFill>
                          </a:ln>
                          <a:solidFill>
                            <a:schemeClr val="bg1"/>
                          </a:solidFill>
                          <a:effectLst/>
                        </a:rPr>
                        <a:t>520/-</a:t>
                      </a:r>
                      <a:endParaRPr lang="en-IN" sz="900" dirty="0">
                        <a:ln>
                          <a:solidFill>
                            <a:schemeClr val="tx1"/>
                          </a:solid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482" marR="53482" marT="0" marB="0" anchor="ctr"/>
                </a:tc>
                <a:extLst>
                  <a:ext uri="{0D108BD9-81ED-4DB2-BD59-A6C34878D82A}">
                    <a16:rowId xmlns:a16="http://schemas.microsoft.com/office/drawing/2014/main" val="1562754320"/>
                  </a:ext>
                </a:extLst>
              </a:tr>
              <a:tr h="401208">
                <a:tc>
                  <a:txBody>
                    <a:bodyPr/>
                    <a:lstStyle/>
                    <a:p>
                      <a:pPr algn="ctr">
                        <a:tabLst>
                          <a:tab pos="834390" algn="l"/>
                        </a:tabLst>
                      </a:pPr>
                      <a:r>
                        <a:rPr lang="en-US" sz="900">
                          <a:ln>
                            <a:solidFill>
                              <a:schemeClr val="tx1"/>
                            </a:solidFill>
                          </a:ln>
                          <a:solidFill>
                            <a:schemeClr val="bg1"/>
                          </a:solidFill>
                          <a:effectLst/>
                        </a:rPr>
                        <a:t>8.70 MM WHITE WHEELS</a:t>
                      </a:r>
                      <a:endParaRPr lang="en-IN" sz="900">
                        <a:ln>
                          <a:solidFill>
                            <a:schemeClr val="tx1"/>
                          </a:solid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482" marR="53482" marT="0" marB="0" anchor="ctr"/>
                </a:tc>
                <a:tc>
                  <a:txBody>
                    <a:bodyPr/>
                    <a:lstStyle/>
                    <a:p>
                      <a:pPr algn="ctr">
                        <a:tabLst>
                          <a:tab pos="834390" algn="l"/>
                        </a:tabLst>
                      </a:pPr>
                      <a:r>
                        <a:rPr lang="en-US" sz="900">
                          <a:ln>
                            <a:solidFill>
                              <a:schemeClr val="tx1"/>
                            </a:solidFill>
                          </a:ln>
                          <a:solidFill>
                            <a:schemeClr val="bg1"/>
                          </a:solidFill>
                          <a:effectLst/>
                        </a:rPr>
                        <a:t>4N</a:t>
                      </a:r>
                      <a:endParaRPr lang="en-IN" sz="900">
                        <a:ln>
                          <a:solidFill>
                            <a:schemeClr val="tx1"/>
                          </a:solid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482" marR="53482" marT="0" marB="0" anchor="ctr"/>
                </a:tc>
                <a:tc>
                  <a:txBody>
                    <a:bodyPr/>
                    <a:lstStyle/>
                    <a:p>
                      <a:pPr algn="ctr">
                        <a:tabLst>
                          <a:tab pos="834390" algn="l"/>
                        </a:tabLst>
                      </a:pPr>
                      <a:r>
                        <a:rPr lang="en-US" sz="900" dirty="0">
                          <a:ln>
                            <a:solidFill>
                              <a:schemeClr val="tx1"/>
                            </a:solidFill>
                          </a:ln>
                          <a:solidFill>
                            <a:schemeClr val="bg1"/>
                          </a:solidFill>
                          <a:effectLst/>
                        </a:rPr>
                        <a:t>280/-</a:t>
                      </a:r>
                      <a:endParaRPr lang="en-IN" sz="900" dirty="0">
                        <a:ln>
                          <a:solidFill>
                            <a:schemeClr val="tx1"/>
                          </a:solid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482" marR="53482" marT="0" marB="0" anchor="ctr"/>
                </a:tc>
                <a:extLst>
                  <a:ext uri="{0D108BD9-81ED-4DB2-BD59-A6C34878D82A}">
                    <a16:rowId xmlns:a16="http://schemas.microsoft.com/office/drawing/2014/main" val="281857036"/>
                  </a:ext>
                </a:extLst>
              </a:tr>
              <a:tr h="616440">
                <a:tc>
                  <a:txBody>
                    <a:bodyPr/>
                    <a:lstStyle/>
                    <a:p>
                      <a:pPr algn="ctr">
                        <a:tabLst>
                          <a:tab pos="834390" algn="l"/>
                        </a:tabLst>
                      </a:pPr>
                      <a:r>
                        <a:rPr lang="en-US" sz="900">
                          <a:ln>
                            <a:solidFill>
                              <a:schemeClr val="tx1"/>
                            </a:solidFill>
                          </a:ln>
                          <a:solidFill>
                            <a:schemeClr val="bg1"/>
                          </a:solidFill>
                          <a:effectLst/>
                        </a:rPr>
                        <a:t>9.12V-9V POWER CONVERTER MODULE</a:t>
                      </a:r>
                      <a:endParaRPr lang="en-IN" sz="900">
                        <a:ln>
                          <a:solidFill>
                            <a:schemeClr val="tx1"/>
                          </a:solid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482" marR="53482" marT="0" marB="0" anchor="ctr"/>
                </a:tc>
                <a:tc>
                  <a:txBody>
                    <a:bodyPr/>
                    <a:lstStyle/>
                    <a:p>
                      <a:pPr algn="ctr">
                        <a:tabLst>
                          <a:tab pos="834390" algn="l"/>
                        </a:tabLst>
                      </a:pPr>
                      <a:r>
                        <a:rPr lang="en-US" sz="900">
                          <a:ln>
                            <a:solidFill>
                              <a:schemeClr val="tx1"/>
                            </a:solidFill>
                          </a:ln>
                          <a:solidFill>
                            <a:schemeClr val="bg1"/>
                          </a:solidFill>
                          <a:effectLst/>
                        </a:rPr>
                        <a:t>1N</a:t>
                      </a:r>
                      <a:endParaRPr lang="en-IN" sz="900">
                        <a:ln>
                          <a:solidFill>
                            <a:schemeClr val="tx1"/>
                          </a:solid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482" marR="53482" marT="0" marB="0" anchor="ctr"/>
                </a:tc>
                <a:tc>
                  <a:txBody>
                    <a:bodyPr/>
                    <a:lstStyle/>
                    <a:p>
                      <a:pPr algn="ctr">
                        <a:tabLst>
                          <a:tab pos="834390" algn="l"/>
                        </a:tabLst>
                      </a:pPr>
                      <a:r>
                        <a:rPr lang="en-US" sz="900">
                          <a:ln>
                            <a:solidFill>
                              <a:schemeClr val="tx1"/>
                            </a:solidFill>
                          </a:ln>
                          <a:solidFill>
                            <a:schemeClr val="bg1"/>
                          </a:solidFill>
                          <a:effectLst/>
                        </a:rPr>
                        <a:t>200/-</a:t>
                      </a:r>
                      <a:endParaRPr lang="en-IN" sz="900">
                        <a:ln>
                          <a:solidFill>
                            <a:schemeClr val="tx1"/>
                          </a:solid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482" marR="53482" marT="0" marB="0" anchor="ctr"/>
                </a:tc>
                <a:extLst>
                  <a:ext uri="{0D108BD9-81ED-4DB2-BD59-A6C34878D82A}">
                    <a16:rowId xmlns:a16="http://schemas.microsoft.com/office/drawing/2014/main" val="2132801444"/>
                  </a:ext>
                </a:extLst>
              </a:tr>
              <a:tr h="307872">
                <a:tc>
                  <a:txBody>
                    <a:bodyPr/>
                    <a:lstStyle/>
                    <a:p>
                      <a:pPr algn="ctr">
                        <a:tabLst>
                          <a:tab pos="834390" algn="l"/>
                        </a:tabLst>
                      </a:pPr>
                      <a:r>
                        <a:rPr lang="en-US" sz="900">
                          <a:ln>
                            <a:solidFill>
                              <a:schemeClr val="tx1"/>
                            </a:solidFill>
                          </a:ln>
                          <a:solidFill>
                            <a:schemeClr val="bg1"/>
                          </a:solidFill>
                          <a:effectLst/>
                        </a:rPr>
                        <a:t>10.12V,2A ADAPTER</a:t>
                      </a:r>
                      <a:endParaRPr lang="en-IN" sz="900">
                        <a:ln>
                          <a:solidFill>
                            <a:schemeClr val="tx1"/>
                          </a:solid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482" marR="53482" marT="0" marB="0" anchor="ctr"/>
                </a:tc>
                <a:tc>
                  <a:txBody>
                    <a:bodyPr/>
                    <a:lstStyle/>
                    <a:p>
                      <a:pPr algn="ctr">
                        <a:tabLst>
                          <a:tab pos="834390" algn="l"/>
                        </a:tabLst>
                      </a:pPr>
                      <a:r>
                        <a:rPr lang="en-US" sz="900">
                          <a:ln>
                            <a:solidFill>
                              <a:schemeClr val="tx1"/>
                            </a:solidFill>
                          </a:ln>
                          <a:solidFill>
                            <a:schemeClr val="bg1"/>
                          </a:solidFill>
                          <a:effectLst/>
                        </a:rPr>
                        <a:t>1N</a:t>
                      </a:r>
                      <a:endParaRPr lang="en-IN" sz="900">
                        <a:ln>
                          <a:solidFill>
                            <a:schemeClr val="tx1"/>
                          </a:solid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482" marR="53482" marT="0" marB="0" anchor="ctr"/>
                </a:tc>
                <a:tc>
                  <a:txBody>
                    <a:bodyPr/>
                    <a:lstStyle/>
                    <a:p>
                      <a:pPr algn="ctr">
                        <a:tabLst>
                          <a:tab pos="834390" algn="l"/>
                        </a:tabLst>
                      </a:pPr>
                      <a:r>
                        <a:rPr lang="en-US" sz="900" dirty="0">
                          <a:ln>
                            <a:solidFill>
                              <a:schemeClr val="tx1"/>
                            </a:solidFill>
                          </a:ln>
                          <a:solidFill>
                            <a:schemeClr val="bg1"/>
                          </a:solidFill>
                          <a:effectLst/>
                        </a:rPr>
                        <a:t>150/-</a:t>
                      </a:r>
                      <a:endParaRPr lang="en-IN" sz="900" dirty="0">
                        <a:ln>
                          <a:solidFill>
                            <a:schemeClr val="tx1"/>
                          </a:solid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482" marR="53482" marT="0" marB="0" anchor="ctr"/>
                </a:tc>
                <a:extLst>
                  <a:ext uri="{0D108BD9-81ED-4DB2-BD59-A6C34878D82A}">
                    <a16:rowId xmlns:a16="http://schemas.microsoft.com/office/drawing/2014/main" val="3714678779"/>
                  </a:ext>
                </a:extLst>
              </a:tr>
              <a:tr h="564199">
                <a:tc>
                  <a:txBody>
                    <a:bodyPr/>
                    <a:lstStyle/>
                    <a:p>
                      <a:pPr>
                        <a:tabLst>
                          <a:tab pos="834390" algn="l"/>
                        </a:tabLst>
                      </a:pPr>
                      <a:r>
                        <a:rPr lang="en-US" sz="900">
                          <a:ln>
                            <a:solidFill>
                              <a:schemeClr val="tx1"/>
                            </a:solidFill>
                          </a:ln>
                          <a:solidFill>
                            <a:schemeClr val="bg1"/>
                          </a:solidFill>
                          <a:effectLst/>
                        </a:rPr>
                        <a:t> </a:t>
                      </a:r>
                      <a:endParaRPr lang="en-IN" sz="900">
                        <a:ln>
                          <a:solidFill>
                            <a:schemeClr val="tx1"/>
                          </a:solid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482" marR="53482" marT="0" marB="0"/>
                </a:tc>
                <a:tc>
                  <a:txBody>
                    <a:bodyPr/>
                    <a:lstStyle/>
                    <a:p>
                      <a:pPr algn="ctr">
                        <a:tabLst>
                          <a:tab pos="834390" algn="l"/>
                        </a:tabLst>
                      </a:pPr>
                      <a:r>
                        <a:rPr lang="en-US" sz="900">
                          <a:ln>
                            <a:solidFill>
                              <a:schemeClr val="tx1"/>
                            </a:solidFill>
                          </a:ln>
                          <a:solidFill>
                            <a:schemeClr val="bg1"/>
                          </a:solidFill>
                          <a:effectLst/>
                        </a:rPr>
                        <a:t>TOTAL</a:t>
                      </a:r>
                      <a:endParaRPr lang="en-IN" sz="900">
                        <a:ln>
                          <a:solidFill>
                            <a:schemeClr val="tx1"/>
                          </a:solid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482" marR="53482" marT="0" marB="0" anchor="ctr"/>
                </a:tc>
                <a:tc>
                  <a:txBody>
                    <a:bodyPr/>
                    <a:lstStyle/>
                    <a:p>
                      <a:pPr algn="ctr">
                        <a:tabLst>
                          <a:tab pos="834390" algn="l"/>
                        </a:tabLst>
                      </a:pPr>
                      <a:r>
                        <a:rPr lang="en-US" sz="900" dirty="0">
                          <a:ln>
                            <a:solidFill>
                              <a:schemeClr val="tx1"/>
                            </a:solidFill>
                          </a:ln>
                          <a:solidFill>
                            <a:schemeClr val="bg1"/>
                          </a:solidFill>
                          <a:effectLst/>
                        </a:rPr>
                        <a:t>2475/-</a:t>
                      </a:r>
                      <a:endParaRPr lang="en-IN" sz="900" dirty="0">
                        <a:ln>
                          <a:solidFill>
                            <a:schemeClr val="tx1"/>
                          </a:solid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3482" marR="53482" marT="0" marB="0" anchor="ctr"/>
                </a:tc>
                <a:extLst>
                  <a:ext uri="{0D108BD9-81ED-4DB2-BD59-A6C34878D82A}">
                    <a16:rowId xmlns:a16="http://schemas.microsoft.com/office/drawing/2014/main" val="3815524588"/>
                  </a:ext>
                </a:extLst>
              </a:tr>
            </a:tbl>
          </a:graphicData>
        </a:graphic>
      </p:graphicFrame>
    </p:spTree>
    <p:extLst>
      <p:ext uri="{BB962C8B-B14F-4D97-AF65-F5344CB8AC3E}">
        <p14:creationId xmlns:p14="http://schemas.microsoft.com/office/powerpoint/2010/main" val="31621662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8F5BF4D-1BD4-9614-B90C-FCF22AE2D8C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6383" y="2346693"/>
            <a:ext cx="4324151" cy="228145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3" name="TextBox 2">
            <a:extLst>
              <a:ext uri="{FF2B5EF4-FFF2-40B4-BE49-F238E27FC236}">
                <a16:creationId xmlns:a16="http://schemas.microsoft.com/office/drawing/2014/main" id="{E3CC8CB7-0262-49FC-8675-759CE02CE8C3}"/>
              </a:ext>
            </a:extLst>
          </p:cNvPr>
          <p:cNvSpPr txBox="1"/>
          <p:nvPr/>
        </p:nvSpPr>
        <p:spPr>
          <a:xfrm>
            <a:off x="5269831" y="633663"/>
            <a:ext cx="1195137" cy="461665"/>
          </a:xfrm>
          <a:prstGeom prst="rect">
            <a:avLst/>
          </a:prstGeom>
          <a:noFill/>
        </p:spPr>
        <p:txBody>
          <a:bodyPr wrap="square" rtlCol="0">
            <a:spAutoFit/>
          </a:bodyPr>
          <a:lstStyle/>
          <a:p>
            <a:r>
              <a:rPr lang="en-IN" sz="2400" dirty="0"/>
              <a:t>RESULT</a:t>
            </a:r>
          </a:p>
        </p:txBody>
      </p:sp>
      <p:pic>
        <p:nvPicPr>
          <p:cNvPr id="4" name="Picture 3">
            <a:extLst>
              <a:ext uri="{FF2B5EF4-FFF2-40B4-BE49-F238E27FC236}">
                <a16:creationId xmlns:a16="http://schemas.microsoft.com/office/drawing/2014/main" id="{41B5DB91-F300-6259-2A8D-4B8169DB40BE}"/>
              </a:ext>
            </a:extLst>
          </p:cNvPr>
          <p:cNvPicPr>
            <a:picLocks noChangeAspect="1"/>
          </p:cNvPicPr>
          <p:nvPr/>
        </p:nvPicPr>
        <p:blipFill rotWithShape="1">
          <a:blip r:embed="rId3">
            <a:extLst>
              <a:ext uri="{28A0092B-C50C-407E-A947-70E740481C1C}">
                <a14:useLocalDpi xmlns:a14="http://schemas.microsoft.com/office/drawing/2010/main" val="0"/>
              </a:ext>
            </a:extLst>
          </a:blip>
          <a:srcRect l="7605" t="12609" r="8720" b="3415"/>
          <a:stretch/>
        </p:blipFill>
        <p:spPr bwMode="auto">
          <a:xfrm>
            <a:off x="6472989" y="2235350"/>
            <a:ext cx="4801870" cy="266001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53640926-AAD7-44D8-BBD7-CCE9431645EC}">
              <a14:shadowObscured xmlns:a14="http://schemas.microsoft.com/office/drawing/2010/main"/>
            </a:ext>
          </a:extLst>
        </p:spPr>
      </p:pic>
    </p:spTree>
    <p:extLst>
      <p:ext uri="{BB962C8B-B14F-4D97-AF65-F5344CB8AC3E}">
        <p14:creationId xmlns:p14="http://schemas.microsoft.com/office/powerpoint/2010/main" val="30496745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BF58E-A160-666D-F296-6E38F3280FF3}"/>
              </a:ext>
            </a:extLst>
          </p:cNvPr>
          <p:cNvSpPr>
            <a:spLocks noGrp="1"/>
          </p:cNvSpPr>
          <p:nvPr>
            <p:ph type="title"/>
          </p:nvPr>
        </p:nvSpPr>
        <p:spPr>
          <a:xfrm>
            <a:off x="2887579" y="385011"/>
            <a:ext cx="5887451" cy="1018673"/>
          </a:xfrm>
        </p:spPr>
        <p:txBody>
          <a:bodyPr>
            <a:normAutofit fontScale="90000"/>
          </a:bodyPr>
          <a:lstStyle/>
          <a:p>
            <a:r>
              <a:rPr lang="en-IN" dirty="0"/>
              <a:t>Future scope and conclusion</a:t>
            </a:r>
          </a:p>
        </p:txBody>
      </p:sp>
      <p:sp>
        <p:nvSpPr>
          <p:cNvPr id="4" name="TextBox 3">
            <a:extLst>
              <a:ext uri="{FF2B5EF4-FFF2-40B4-BE49-F238E27FC236}">
                <a16:creationId xmlns:a16="http://schemas.microsoft.com/office/drawing/2014/main" id="{7A8C8439-458F-4DD2-CBAB-BAAE4B09F7CE}"/>
              </a:ext>
            </a:extLst>
          </p:cNvPr>
          <p:cNvSpPr txBox="1"/>
          <p:nvPr/>
        </p:nvSpPr>
        <p:spPr>
          <a:xfrm>
            <a:off x="637673" y="1826165"/>
            <a:ext cx="10916653" cy="2862322"/>
          </a:xfrm>
          <a:prstGeom prst="rect">
            <a:avLst/>
          </a:prstGeom>
          <a:noFill/>
        </p:spPr>
        <p:txBody>
          <a:bodyPr wrap="square">
            <a:spAutoFit/>
          </a:bodyPr>
          <a:lstStyle/>
          <a:p>
            <a:pPr algn="just">
              <a:tabLst>
                <a:tab pos="1232535" algn="l"/>
              </a:tabLst>
            </a:pPr>
            <a:r>
              <a:rPr lang="en-US" sz="1800" dirty="0">
                <a:effectLst/>
                <a:latin typeface="Times New Roman" panose="02020603050405020304" pitchFamily="18" charset="0"/>
                <a:ea typeface="Times New Roman" panose="02020603050405020304" pitchFamily="18" charset="0"/>
              </a:rPr>
              <a:t>After testing and </a:t>
            </a:r>
            <a:r>
              <a:rPr lang="en-US" sz="1800" dirty="0" err="1">
                <a:effectLst/>
                <a:latin typeface="Times New Roman" panose="02020603050405020304" pitchFamily="18" charset="0"/>
                <a:ea typeface="Times New Roman" panose="02020603050405020304" pitchFamily="18" charset="0"/>
              </a:rPr>
              <a:t>caliberating</a:t>
            </a:r>
            <a:r>
              <a:rPr lang="en-US" sz="1800" dirty="0">
                <a:effectLst/>
                <a:latin typeface="Times New Roman" panose="02020603050405020304" pitchFamily="18" charset="0"/>
                <a:ea typeface="Times New Roman" panose="02020603050405020304" pitchFamily="18" charset="0"/>
              </a:rPr>
              <a:t> this  </a:t>
            </a:r>
            <a:r>
              <a:rPr lang="en-US" sz="1800" dirty="0" err="1">
                <a:effectLst/>
                <a:latin typeface="Times New Roman" panose="02020603050405020304" pitchFamily="18" charset="0"/>
                <a:ea typeface="Times New Roman" panose="02020603050405020304" pitchFamily="18" charset="0"/>
              </a:rPr>
              <a:t>module,we</a:t>
            </a:r>
            <a:r>
              <a:rPr lang="en-US" sz="1800" dirty="0">
                <a:effectLst/>
                <a:latin typeface="Times New Roman" panose="02020603050405020304" pitchFamily="18" charset="0"/>
                <a:ea typeface="Times New Roman" panose="02020603050405020304" pitchFamily="18" charset="0"/>
              </a:rPr>
              <a:t> can conclude that this proposed module can be used  by the </a:t>
            </a:r>
            <a:endParaRPr lang="en-IN" sz="1800" dirty="0">
              <a:effectLst/>
              <a:latin typeface="Times New Roman" panose="02020603050405020304" pitchFamily="18" charset="0"/>
              <a:ea typeface="Times New Roman" panose="02020603050405020304" pitchFamily="18" charset="0"/>
            </a:endParaRPr>
          </a:p>
          <a:p>
            <a:pPr algn="just">
              <a:tabLst>
                <a:tab pos="1232535" algn="l"/>
              </a:tabLst>
            </a:pPr>
            <a:r>
              <a:rPr lang="en-US" sz="1800" dirty="0">
                <a:effectLst/>
                <a:latin typeface="Times New Roman" panose="02020603050405020304" pitchFamily="18" charset="0"/>
                <a:ea typeface="Times New Roman" panose="02020603050405020304" pitchFamily="18" charset="0"/>
              </a:rPr>
              <a:t>Blind people to  use it as a mode of </a:t>
            </a:r>
            <a:r>
              <a:rPr lang="en-US" sz="1800" dirty="0" err="1">
                <a:effectLst/>
                <a:latin typeface="Times New Roman" panose="02020603050405020304" pitchFamily="18" charset="0"/>
                <a:ea typeface="Times New Roman" panose="02020603050405020304" pitchFamily="18" charset="0"/>
              </a:rPr>
              <a:t>transportation.The</a:t>
            </a:r>
            <a:r>
              <a:rPr lang="en-US" sz="1800" dirty="0">
                <a:effectLst/>
                <a:latin typeface="Times New Roman" panose="02020603050405020304" pitchFamily="18" charset="0"/>
                <a:ea typeface="Times New Roman" panose="02020603050405020304" pitchFamily="18" charset="0"/>
              </a:rPr>
              <a:t> hoverboard provides an efficient and fast way of  transportation for the blind people due to its inbuilt object detection </a:t>
            </a:r>
            <a:r>
              <a:rPr lang="en-US" sz="1800" dirty="0" err="1">
                <a:effectLst/>
                <a:latin typeface="Times New Roman" panose="02020603050405020304" pitchFamily="18" charset="0"/>
                <a:ea typeface="Times New Roman" panose="02020603050405020304" pitchFamily="18" charset="0"/>
              </a:rPr>
              <a:t>module.These</a:t>
            </a:r>
            <a:r>
              <a:rPr lang="en-US" sz="1800" dirty="0">
                <a:effectLst/>
                <a:latin typeface="Times New Roman" panose="02020603050405020304" pitchFamily="18" charset="0"/>
                <a:ea typeface="Times New Roman" panose="02020603050405020304" pitchFamily="18" charset="0"/>
              </a:rPr>
              <a:t> hoverboards can be used to replace smart blind sticks proposed by the government as these hoverboards are  faster and more efficient</a:t>
            </a:r>
            <a:r>
              <a:rPr lang="en-IN" dirty="0">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than the smart blind sticks.</a:t>
            </a:r>
            <a:endParaRPr lang="en-IN" sz="1800" dirty="0">
              <a:effectLst/>
              <a:latin typeface="Times New Roman" panose="02020603050405020304" pitchFamily="18" charset="0"/>
              <a:ea typeface="Times New Roman" panose="02020603050405020304" pitchFamily="18" charset="0"/>
            </a:endParaRPr>
          </a:p>
          <a:p>
            <a:pPr algn="just">
              <a:tabLst>
                <a:tab pos="1232535" algn="l"/>
              </a:tabLst>
            </a:pPr>
            <a:r>
              <a:rPr lang="en-US" sz="1800" dirty="0">
                <a:effectLst/>
                <a:latin typeface="Times New Roman" panose="02020603050405020304" pitchFamily="18" charset="0"/>
                <a:ea typeface="Times New Roman" panose="02020603050405020304" pitchFamily="18" charset="0"/>
              </a:rPr>
              <a:t> </a:t>
            </a:r>
            <a:endParaRPr lang="en-IN" dirty="0">
              <a:latin typeface="Times New Roman" panose="02020603050405020304" pitchFamily="18" charset="0"/>
              <a:ea typeface="Times New Roman" panose="02020603050405020304" pitchFamily="18" charset="0"/>
            </a:endParaRPr>
          </a:p>
          <a:p>
            <a:pPr algn="just">
              <a:tabLst>
                <a:tab pos="1232535" algn="l"/>
              </a:tabLst>
            </a:pPr>
            <a:r>
              <a:rPr lang="en-US" sz="1800" dirty="0">
                <a:effectLst/>
                <a:latin typeface="Times New Roman" panose="02020603050405020304" pitchFamily="18" charset="0"/>
                <a:ea typeface="Times New Roman" panose="02020603050405020304" pitchFamily="18" charset="0"/>
              </a:rPr>
              <a:t>This module can be further improved by using vibration sensors for blind and deaf </a:t>
            </a:r>
            <a:r>
              <a:rPr lang="en-US" sz="1800" dirty="0" err="1">
                <a:effectLst/>
                <a:latin typeface="Times New Roman" panose="02020603050405020304" pitchFamily="18" charset="0"/>
                <a:ea typeface="Times New Roman" panose="02020603050405020304" pitchFamily="18" charset="0"/>
              </a:rPr>
              <a:t>people,the</a:t>
            </a:r>
            <a:r>
              <a:rPr lang="en-US" sz="1800" dirty="0">
                <a:effectLst/>
                <a:latin typeface="Times New Roman" panose="02020603050405020304" pitchFamily="18" charset="0"/>
                <a:ea typeface="Times New Roman" panose="02020603050405020304" pitchFamily="18" charset="0"/>
              </a:rPr>
              <a:t> vibration sensors </a:t>
            </a:r>
            <a:endParaRPr lang="en-IN" sz="1800" dirty="0">
              <a:effectLst/>
              <a:latin typeface="Times New Roman" panose="02020603050405020304" pitchFamily="18" charset="0"/>
              <a:ea typeface="Times New Roman" panose="02020603050405020304" pitchFamily="18" charset="0"/>
            </a:endParaRPr>
          </a:p>
          <a:p>
            <a:pPr>
              <a:tabLst>
                <a:tab pos="772160" algn="l"/>
              </a:tabLst>
            </a:pPr>
            <a:r>
              <a:rPr lang="en-US" sz="1800" dirty="0">
                <a:effectLst/>
                <a:latin typeface="Times New Roman" panose="02020603050405020304" pitchFamily="18" charset="0"/>
                <a:ea typeface="Times New Roman" panose="02020603050405020304" pitchFamily="18" charset="0"/>
              </a:rPr>
              <a:t>Produce vibrations which can be instilled on the wooden </a:t>
            </a:r>
            <a:r>
              <a:rPr lang="en-US" sz="1800" dirty="0" err="1">
                <a:effectLst/>
                <a:latin typeface="Times New Roman" panose="02020603050405020304" pitchFamily="18" charset="0"/>
                <a:ea typeface="Times New Roman" panose="02020603050405020304" pitchFamily="18" charset="0"/>
              </a:rPr>
              <a:t>board,such</a:t>
            </a:r>
            <a:r>
              <a:rPr lang="en-US" sz="1800" dirty="0">
                <a:effectLst/>
                <a:latin typeface="Times New Roman" panose="02020603050405020304" pitchFamily="18" charset="0"/>
                <a:ea typeface="Times New Roman" panose="02020603050405020304" pitchFamily="18" charset="0"/>
              </a:rPr>
              <a:t> that the person on the hoverboard can feel </a:t>
            </a:r>
            <a:endParaRPr lang="en-IN" sz="1800" dirty="0">
              <a:effectLst/>
              <a:latin typeface="Times New Roman" panose="02020603050405020304" pitchFamily="18" charset="0"/>
              <a:ea typeface="Times New Roman" panose="02020603050405020304" pitchFamily="18" charset="0"/>
            </a:endParaRPr>
          </a:p>
          <a:p>
            <a:pPr>
              <a:tabLst>
                <a:tab pos="772160" algn="l"/>
              </a:tabLst>
            </a:pPr>
            <a:r>
              <a:rPr lang="en-US" sz="1800" dirty="0">
                <a:effectLst/>
                <a:latin typeface="Times New Roman" panose="02020603050405020304" pitchFamily="18" charset="0"/>
                <a:ea typeface="Times New Roman" panose="02020603050405020304" pitchFamily="18" charset="0"/>
              </a:rPr>
              <a:t>the vibrations and thus move the hoverboard in the desired direction.            </a:t>
            </a:r>
            <a:endParaRPr lang="en-IN" sz="1800" dirty="0">
              <a:effectLst/>
              <a:latin typeface="Times New Roman" panose="02020603050405020304" pitchFamily="18"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0271067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405</TotalTime>
  <Words>2457</Words>
  <Application>Microsoft Office PowerPoint</Application>
  <PresentationFormat>Widescreen</PresentationFormat>
  <Paragraphs>218</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LITERATURE SURVEY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EXPENDITURE STATEMENT</vt:lpstr>
      <vt:lpstr>PowerPoint Presentation</vt:lpstr>
      <vt:lpstr>Future scope and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Manjula N</dc:creator>
  <cp:lastModifiedBy>Ananya Shekar</cp:lastModifiedBy>
  <cp:revision>2</cp:revision>
  <dcterms:created xsi:type="dcterms:W3CDTF">2023-07-19T08:14:46Z</dcterms:created>
  <dcterms:modified xsi:type="dcterms:W3CDTF">2026-01-18T23:55:16Z</dcterms:modified>
</cp:coreProperties>
</file>